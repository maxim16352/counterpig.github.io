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</p:sldIdLst>
  <p:sldSz cx="9144000" cy="5143500" type="screen16x9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61" d="100"/>
          <a:sy n="161" d="100"/>
        </p:scale>
        <p:origin x="7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73A095-D4AB-CE4C-940F-9E7151151DDC}" type="datetimeFigureOut">
              <a:rPr lang="en-US" smtClean="0"/>
              <a:t>5/26/26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AD01A1-5499-254D-8585-0D3DFE769A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403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D01A1-5499-254D-8585-0D3DFE769A1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7378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85800" y="1594440"/>
            <a:ext cx="777168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ftr" idx="1"/>
          </p:nvPr>
        </p:nvSpPr>
        <p:spPr>
          <a:xfrm>
            <a:off x="3108960" y="4783320"/>
            <a:ext cx="2925360" cy="25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dt" idx="2"/>
          </p:nvPr>
        </p:nvSpPr>
        <p:spPr>
          <a:xfrm>
            <a:off x="457200" y="4783320"/>
            <a:ext cx="2102400" cy="25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816400" y="4785480"/>
            <a:ext cx="229320" cy="31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73080" indent="0">
              <a:lnSpc>
                <a:spcPct val="100000"/>
              </a:lnSpc>
              <a:buNone/>
              <a:tabLst>
                <a:tab pos="0" algn="l"/>
              </a:tabLst>
              <a:defRPr lang="ru-RU" sz="1000" b="0" u="none" strike="noStrike" spc="-51">
                <a:solidFill>
                  <a:schemeClr val="dk1"/>
                </a:solidFill>
                <a:effectLst/>
                <a:uFillTx/>
                <a:latin typeface="Microsoft Sans Serif"/>
              </a:defRPr>
            </a:lvl1pPr>
          </a:lstStyle>
          <a:p>
            <a:pPr marL="73080" indent="0">
              <a:lnSpc>
                <a:spcPct val="100000"/>
              </a:lnSpc>
              <a:buNone/>
              <a:tabLst>
                <a:tab pos="0" algn="l"/>
              </a:tabLst>
            </a:pPr>
            <a:fld id="{28AF5212-AEBB-4010-969C-59B9B9C82D03}" type="slidenum">
              <a:rPr lang="ru-RU" sz="1000" b="0" u="none" strike="noStrike" spc="-51">
                <a:solidFill>
                  <a:schemeClr val="dk1"/>
                </a:solidFill>
                <a:effectLst/>
                <a:uFillTx/>
                <a:latin typeface="Microsoft Sans Serif"/>
              </a:rPr>
              <a:t>‹#›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325080" y="161640"/>
            <a:ext cx="7806960" cy="89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3020760" y="1370520"/>
            <a:ext cx="4856400" cy="299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ftr" idx="4"/>
          </p:nvPr>
        </p:nvSpPr>
        <p:spPr>
          <a:xfrm>
            <a:off x="3108960" y="4783320"/>
            <a:ext cx="2925360" cy="25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7" name="PlaceHolder 4"/>
          <p:cNvSpPr>
            <a:spLocks noGrp="1"/>
          </p:cNvSpPr>
          <p:nvPr>
            <p:ph type="dt" idx="5"/>
          </p:nvPr>
        </p:nvSpPr>
        <p:spPr>
          <a:xfrm>
            <a:off x="457200" y="4783320"/>
            <a:ext cx="2102400" cy="25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8816400" y="4785480"/>
            <a:ext cx="229320" cy="31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73080" indent="0">
              <a:lnSpc>
                <a:spcPct val="100000"/>
              </a:lnSpc>
              <a:buNone/>
              <a:tabLst>
                <a:tab pos="0" algn="l"/>
              </a:tabLst>
              <a:defRPr lang="ru-RU" sz="1000" b="0" u="none" strike="noStrike" spc="-51">
                <a:solidFill>
                  <a:schemeClr val="dk1"/>
                </a:solidFill>
                <a:effectLst/>
                <a:uFillTx/>
                <a:latin typeface="Microsoft Sans Serif"/>
              </a:defRPr>
            </a:lvl1pPr>
          </a:lstStyle>
          <a:p>
            <a:pPr marL="73080" indent="0">
              <a:lnSpc>
                <a:spcPct val="100000"/>
              </a:lnSpc>
              <a:buNone/>
              <a:tabLst>
                <a:tab pos="0" algn="l"/>
              </a:tabLst>
            </a:pPr>
            <a:fld id="{45873C5C-3382-446A-B3EA-5AC6E7357C95}" type="slidenum">
              <a:rPr lang="ru-RU" sz="1000" b="0" u="none" strike="noStrike" spc="-51">
                <a:solidFill>
                  <a:schemeClr val="dk1"/>
                </a:solidFill>
                <a:effectLst/>
                <a:uFillTx/>
                <a:latin typeface="Microsoft Sans Serif"/>
              </a:rPr>
              <a:t>‹#›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325080" y="161640"/>
            <a:ext cx="7806960" cy="89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910080" y="1393920"/>
            <a:ext cx="3575520" cy="6741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4780800" y="1106280"/>
            <a:ext cx="3335040" cy="893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7"/>
          </p:nvPr>
        </p:nvSpPr>
        <p:spPr>
          <a:xfrm>
            <a:off x="3108960" y="4783320"/>
            <a:ext cx="2925360" cy="25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13" name="PlaceHolder 5"/>
          <p:cNvSpPr>
            <a:spLocks noGrp="1"/>
          </p:cNvSpPr>
          <p:nvPr>
            <p:ph type="dt" idx="8"/>
          </p:nvPr>
        </p:nvSpPr>
        <p:spPr>
          <a:xfrm>
            <a:off x="457200" y="4783320"/>
            <a:ext cx="2102400" cy="25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4" name="PlaceHolder 6"/>
          <p:cNvSpPr>
            <a:spLocks noGrp="1"/>
          </p:cNvSpPr>
          <p:nvPr>
            <p:ph type="sldNum" idx="9"/>
          </p:nvPr>
        </p:nvSpPr>
        <p:spPr>
          <a:xfrm>
            <a:off x="8816400" y="4785480"/>
            <a:ext cx="229320" cy="31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73080" indent="0">
              <a:lnSpc>
                <a:spcPct val="100000"/>
              </a:lnSpc>
              <a:buNone/>
              <a:tabLst>
                <a:tab pos="0" algn="l"/>
              </a:tabLst>
              <a:defRPr lang="ru-RU" sz="1000" b="0" u="none" strike="noStrike" spc="-51">
                <a:solidFill>
                  <a:schemeClr val="dk1"/>
                </a:solidFill>
                <a:effectLst/>
                <a:uFillTx/>
                <a:latin typeface="Microsoft Sans Serif"/>
              </a:defRPr>
            </a:lvl1pPr>
          </a:lstStyle>
          <a:p>
            <a:pPr marL="73080" indent="0">
              <a:lnSpc>
                <a:spcPct val="100000"/>
              </a:lnSpc>
              <a:buNone/>
              <a:tabLst>
                <a:tab pos="0" algn="l"/>
              </a:tabLst>
            </a:pPr>
            <a:fld id="{B697C230-DB56-40EC-AA7E-542FD55F326B}" type="slidenum">
              <a:rPr lang="ru-RU" sz="1000" b="0" u="none" strike="noStrike" spc="-51">
                <a:solidFill>
                  <a:schemeClr val="dk1"/>
                </a:solidFill>
                <a:effectLst/>
                <a:uFillTx/>
                <a:latin typeface="Microsoft Sans Serif"/>
              </a:rPr>
              <a:t>‹#›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325080" y="161640"/>
            <a:ext cx="7806960" cy="89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ftr" idx="10"/>
          </p:nvPr>
        </p:nvSpPr>
        <p:spPr>
          <a:xfrm>
            <a:off x="3108960" y="4783320"/>
            <a:ext cx="2925360" cy="25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17" name="PlaceHolder 3"/>
          <p:cNvSpPr>
            <a:spLocks noGrp="1"/>
          </p:cNvSpPr>
          <p:nvPr>
            <p:ph type="dt" idx="11"/>
          </p:nvPr>
        </p:nvSpPr>
        <p:spPr>
          <a:xfrm>
            <a:off x="457200" y="4783320"/>
            <a:ext cx="2102400" cy="25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8" name="PlaceHolder 4"/>
          <p:cNvSpPr>
            <a:spLocks noGrp="1"/>
          </p:cNvSpPr>
          <p:nvPr>
            <p:ph type="sldNum" idx="12"/>
          </p:nvPr>
        </p:nvSpPr>
        <p:spPr>
          <a:xfrm>
            <a:off x="8816400" y="4785480"/>
            <a:ext cx="229320" cy="31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73080" indent="0">
              <a:lnSpc>
                <a:spcPct val="100000"/>
              </a:lnSpc>
              <a:buNone/>
              <a:tabLst>
                <a:tab pos="0" algn="l"/>
              </a:tabLst>
              <a:defRPr lang="ru-RU" sz="1000" b="0" u="none" strike="noStrike" spc="-51">
                <a:solidFill>
                  <a:schemeClr val="dk1"/>
                </a:solidFill>
                <a:effectLst/>
                <a:uFillTx/>
                <a:latin typeface="Microsoft Sans Serif"/>
              </a:defRPr>
            </a:lvl1pPr>
          </a:lstStyle>
          <a:p>
            <a:pPr marL="73080" indent="0">
              <a:lnSpc>
                <a:spcPct val="100000"/>
              </a:lnSpc>
              <a:buNone/>
              <a:tabLst>
                <a:tab pos="0" algn="l"/>
              </a:tabLst>
            </a:pPr>
            <a:fld id="{3D7409E3-DAD1-497F-B80C-153C8E615756}" type="slidenum">
              <a:rPr lang="ru-RU" sz="1000" b="0" u="none" strike="noStrike" spc="-51">
                <a:solidFill>
                  <a:schemeClr val="dk1"/>
                </a:solidFill>
                <a:effectLst/>
                <a:uFillTx/>
                <a:latin typeface="Microsoft Sans Serif"/>
              </a:rPr>
              <a:t>‹#›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ftr" idx="13"/>
          </p:nvPr>
        </p:nvSpPr>
        <p:spPr>
          <a:xfrm>
            <a:off x="3108960" y="4783320"/>
            <a:ext cx="2925360" cy="25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20" name="PlaceHolder 2"/>
          <p:cNvSpPr>
            <a:spLocks noGrp="1"/>
          </p:cNvSpPr>
          <p:nvPr>
            <p:ph type="dt" idx="14"/>
          </p:nvPr>
        </p:nvSpPr>
        <p:spPr>
          <a:xfrm>
            <a:off x="457200" y="4783320"/>
            <a:ext cx="2102400" cy="25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21" name="PlaceHolder 3"/>
          <p:cNvSpPr>
            <a:spLocks noGrp="1"/>
          </p:cNvSpPr>
          <p:nvPr>
            <p:ph type="sldNum" idx="15"/>
          </p:nvPr>
        </p:nvSpPr>
        <p:spPr>
          <a:xfrm>
            <a:off x="8816400" y="4785480"/>
            <a:ext cx="229320" cy="31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73080" indent="0">
              <a:lnSpc>
                <a:spcPct val="100000"/>
              </a:lnSpc>
              <a:buNone/>
              <a:tabLst>
                <a:tab pos="0" algn="l"/>
              </a:tabLst>
              <a:defRPr lang="ru-RU" sz="1000" b="0" u="none" strike="noStrike" spc="-51">
                <a:solidFill>
                  <a:schemeClr val="dk1"/>
                </a:solidFill>
                <a:effectLst/>
                <a:uFillTx/>
                <a:latin typeface="Microsoft Sans Serif"/>
              </a:defRPr>
            </a:lvl1pPr>
          </a:lstStyle>
          <a:p>
            <a:pPr marL="73080" indent="0">
              <a:lnSpc>
                <a:spcPct val="100000"/>
              </a:lnSpc>
              <a:buNone/>
              <a:tabLst>
                <a:tab pos="0" algn="l"/>
              </a:tabLst>
            </a:pPr>
            <a:fld id="{56387709-4A39-4BC3-853D-A25409B0B407}" type="slidenum">
              <a:rPr lang="ru-RU" sz="1000" b="0" u="none" strike="noStrike" spc="-51">
                <a:solidFill>
                  <a:schemeClr val="dk1"/>
                </a:solidFill>
                <a:effectLst/>
                <a:uFillTx/>
                <a:latin typeface="Microsoft Sans Serif"/>
              </a:rPr>
              <a:t>‹#›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jpe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jpeg"/><Relationship Id="rId3" Type="http://schemas.openxmlformats.org/officeDocument/2006/relationships/image" Target="../media/image34.jpe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jpeg"/><Relationship Id="rId5" Type="http://schemas.openxmlformats.org/officeDocument/2006/relationships/image" Target="../media/image36.jpeg"/><Relationship Id="rId4" Type="http://schemas.openxmlformats.org/officeDocument/2006/relationships/image" Target="../media/image3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3AF0F91-17A6-DC54-14A8-3C24B40869D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80"/>
            <a:ext cx="9140480" cy="5141520"/>
          </a:xfrm>
          <a:prstGeom prst="rect">
            <a:avLst/>
          </a:prstGeom>
        </p:spPr>
      </p:pic>
      <p:sp>
        <p:nvSpPr>
          <p:cNvPr id="26" name="object 4"/>
          <p:cNvSpPr/>
          <p:nvPr/>
        </p:nvSpPr>
        <p:spPr>
          <a:xfrm>
            <a:off x="3257393" y="2189425"/>
            <a:ext cx="2625691" cy="3820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1260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ru-RU" sz="24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«Умная копилка»</a:t>
            </a:r>
          </a:p>
        </p:txBody>
      </p:sp>
      <p:sp>
        <p:nvSpPr>
          <p:cNvPr id="27" name="object 5"/>
          <p:cNvSpPr/>
          <p:nvPr/>
        </p:nvSpPr>
        <p:spPr>
          <a:xfrm>
            <a:off x="720" y="720"/>
            <a:ext cx="9141840" cy="5141520"/>
          </a:xfrm>
          <a:custGeom>
            <a:avLst/>
            <a:gdLst>
              <a:gd name="textAreaLeft" fmla="*/ 0 w 9141840"/>
              <a:gd name="textAreaRight" fmla="*/ 9142560 w 9141840"/>
              <a:gd name="textAreaTop" fmla="*/ 0 h 5141520"/>
              <a:gd name="textAreaBottom" fmla="*/ 5142240 h 5141520"/>
            </a:gdLst>
            <a:ahLst/>
            <a:cxnLst/>
            <a:rect l="textAreaLeft" t="textAreaTop" r="textAreaRight" b="textAreaBottom"/>
            <a:pathLst>
              <a:path w="9142730" h="5142230">
                <a:moveTo>
                  <a:pt x="0" y="0"/>
                </a:moveTo>
                <a:lnTo>
                  <a:pt x="9142476" y="0"/>
                </a:lnTo>
                <a:lnTo>
                  <a:pt x="9142476" y="5141976"/>
                </a:lnTo>
                <a:lnTo>
                  <a:pt x="0" y="5141976"/>
                </a:lnTo>
                <a:lnTo>
                  <a:pt x="0" y="0"/>
                </a:lnTo>
                <a:close/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A9975D-5D7A-9694-DDB7-AD9FAF093D33}"/>
              </a:ext>
            </a:extLst>
          </p:cNvPr>
          <p:cNvSpPr txBox="1"/>
          <p:nvPr/>
        </p:nvSpPr>
        <p:spPr>
          <a:xfrm>
            <a:off x="839090" y="229249"/>
            <a:ext cx="74622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b="1" spc="-26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Государственное</a:t>
            </a:r>
            <a:r>
              <a:rPr lang="ru-RU" sz="2000" b="1" spc="-34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1" spc="-1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бюджетное</a:t>
            </a:r>
            <a:r>
              <a:rPr lang="ru-RU" sz="2000" b="1" spc="-3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1" spc="-1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общеобразовательное</a:t>
            </a:r>
            <a:r>
              <a:rPr lang="ru-RU" sz="2000" b="1" spc="-3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1" spc="-1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учреждение </a:t>
            </a:r>
            <a:r>
              <a:rPr lang="ru-RU" sz="20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города</a:t>
            </a:r>
            <a:r>
              <a:rPr lang="ru-RU" sz="2000" b="1" spc="-54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Москвы</a:t>
            </a:r>
            <a:r>
              <a:rPr lang="ru-RU" sz="2000" b="1" spc="-54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1" spc="-1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«Школа</a:t>
            </a:r>
            <a:r>
              <a:rPr lang="ru-RU" sz="2000" b="1" spc="-54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№</a:t>
            </a:r>
            <a:r>
              <a:rPr lang="ru-RU" sz="2000" b="1" spc="-54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1" spc="-2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771»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object 4">
            <a:extLst>
              <a:ext uri="{FF2B5EF4-FFF2-40B4-BE49-F238E27FC236}">
                <a16:creationId xmlns:a16="http://schemas.microsoft.com/office/drawing/2014/main" id="{C8A1E12B-8CFB-2993-9BEB-81094F2B157A}"/>
              </a:ext>
            </a:extLst>
          </p:cNvPr>
          <p:cNvSpPr/>
          <p:nvPr/>
        </p:nvSpPr>
        <p:spPr>
          <a:xfrm>
            <a:off x="412151" y="3823770"/>
            <a:ext cx="3738430" cy="6282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1260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ru-RU" sz="2000" dirty="0">
                <a:solidFill>
                  <a:srgbClr val="000000"/>
                </a:solidFill>
                <a:latin typeface="Arial"/>
              </a:rPr>
              <a:t>Выполнил: Рабазанов М. Р.</a:t>
            </a:r>
          </a:p>
          <a:p>
            <a:pPr>
              <a:lnSpc>
                <a:spcPct val="100000"/>
              </a:lnSpc>
            </a:pPr>
            <a:r>
              <a:rPr lang="ru-RU" sz="200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Руководитель: Шеметова </a:t>
            </a:r>
            <a:r>
              <a:rPr lang="ru-RU" sz="2000" dirty="0">
                <a:solidFill>
                  <a:srgbClr val="000000"/>
                </a:solidFill>
                <a:latin typeface="Arial"/>
              </a:rPr>
              <a:t>Ю. Ф.</a:t>
            </a:r>
            <a:endParaRPr lang="ru-RU" sz="20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7FC4D7-184C-C029-578B-EA8E23DA40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840" cy="5142285"/>
          </a:xfrm>
          <a:prstGeom prst="rect">
            <a:avLst/>
          </a:prstGeom>
        </p:spPr>
      </p:pic>
      <p:sp>
        <p:nvSpPr>
          <p:cNvPr id="32" name="object 6"/>
          <p:cNvSpPr/>
          <p:nvPr/>
        </p:nvSpPr>
        <p:spPr>
          <a:xfrm>
            <a:off x="325080" y="1949400"/>
            <a:ext cx="4183310" cy="212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12600" rIns="0" bIns="0" anchor="t">
            <a:spAutoFit/>
          </a:bodyPr>
          <a:lstStyle/>
          <a:p>
            <a:pPr marL="12600">
              <a:lnSpc>
                <a:spcPct val="114000"/>
              </a:lnSpc>
              <a:spcBef>
                <a:spcPts val="99"/>
              </a:spcBef>
            </a:pPr>
            <a:r>
              <a:rPr lang="ru-RU" sz="2000" b="0" u="none" strike="noStrike" spc="-1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Накопления</a:t>
            </a:r>
            <a:r>
              <a:rPr lang="ru-RU" sz="2000" b="0" u="none" strike="noStrike" spc="-9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часто</a:t>
            </a:r>
            <a:r>
              <a:rPr lang="ru-RU" sz="2000" b="0" u="none" strike="noStrike" spc="-9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срываются</a:t>
            </a:r>
            <a:r>
              <a:rPr lang="ru-RU" sz="2000" b="0" u="none" strike="noStrike" spc="-9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1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из-</a:t>
            </a:r>
            <a:r>
              <a:rPr lang="ru-RU" sz="2000" b="0" u="none" strike="noStrike" spc="-26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за 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отсутствия</a:t>
            </a:r>
            <a:r>
              <a:rPr lang="ru-RU" sz="2000" b="0" u="none" strike="noStrike" spc="-99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1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контроля</a:t>
            </a:r>
            <a:r>
              <a:rPr lang="ru-RU" sz="2000" b="0" u="none" strike="noStrike" spc="-96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1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расходов.</a:t>
            </a:r>
            <a:endParaRPr lang="ru-RU" sz="20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600">
              <a:lnSpc>
                <a:spcPct val="114000"/>
              </a:lnSpc>
            </a:pPr>
            <a:r>
              <a:rPr lang="ru-RU" sz="2000" b="0" u="none" strike="noStrike" spc="-20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Технологии</a:t>
            </a:r>
            <a:r>
              <a:rPr lang="ru-RU" sz="2000" b="0" u="none" strike="noStrike" spc="-40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1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помогают </a:t>
            </a:r>
            <a:r>
              <a:rPr lang="ru-RU" sz="2000" b="0" u="none" strike="noStrike" spc="-26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автоматизировать</a:t>
            </a:r>
            <a:r>
              <a:rPr lang="ru-RU" sz="2000" b="0" u="none" strike="noStrike" spc="-3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учет</a:t>
            </a:r>
            <a:r>
              <a:rPr lang="ru-RU" sz="2000" b="0" u="none" strike="noStrike" spc="-3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денег,</a:t>
            </a:r>
            <a:r>
              <a:rPr lang="ru-RU" sz="2000" b="0" u="none" strike="noStrike" spc="-26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1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делая 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процесс</a:t>
            </a:r>
            <a:r>
              <a:rPr lang="ru-RU" sz="2000" b="0" u="none" strike="noStrike" spc="-3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1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прозрачным</a:t>
            </a:r>
            <a:r>
              <a:rPr lang="ru-RU" sz="2000" b="0" u="none" strike="noStrike" spc="-34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и</a:t>
            </a:r>
            <a:r>
              <a:rPr lang="ru-RU" sz="2000" b="0" u="none" strike="noStrike" spc="-3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20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удобным</a:t>
            </a:r>
            <a:r>
              <a:rPr lang="ru-RU" sz="2000" b="0" u="none" strike="noStrike" spc="-34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26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для 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всех</a:t>
            </a:r>
            <a:r>
              <a:rPr lang="ru-RU" sz="2000" b="0" u="none" strike="noStrike" spc="-45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1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возрастов.</a:t>
            </a:r>
            <a:endParaRPr lang="ru-RU" sz="20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325080" y="332280"/>
            <a:ext cx="4351680" cy="721377"/>
          </a:xfrm>
          <a:prstGeom prst="rect">
            <a:avLst/>
          </a:prstGeom>
          <a:noFill/>
          <a:ln w="0">
            <a:noFill/>
          </a:ln>
        </p:spPr>
        <p:txBody>
          <a:bodyPr lIns="0" tIns="54000" rIns="0" bIns="0" anchor="t">
            <a:spAutoFit/>
          </a:bodyPr>
          <a:lstStyle/>
          <a:p>
            <a:pPr marL="12600" indent="0">
              <a:lnSpc>
                <a:spcPts val="2591"/>
              </a:lnSpc>
              <a:spcBef>
                <a:spcPts val="425"/>
              </a:spcBef>
              <a:buNone/>
              <a:tabLst>
                <a:tab pos="0" algn="l"/>
              </a:tabLst>
            </a:pPr>
            <a:r>
              <a:rPr lang="ru-RU" sz="2400" u="none" strike="noStrike" spc="-11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Финансовая</a:t>
            </a:r>
            <a:r>
              <a:rPr lang="ru-RU" sz="2400" u="none" strike="noStrike" spc="-99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грамотность</a:t>
            </a:r>
            <a:r>
              <a:rPr lang="ru-RU" sz="2400" u="none" strike="noStrike" spc="-96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u="none" strike="noStrike" spc="-11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через технологии</a:t>
            </a:r>
            <a:endParaRPr lang="ru-RU" sz="240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object 8"/>
          <p:cNvSpPr/>
          <p:nvPr/>
        </p:nvSpPr>
        <p:spPr>
          <a:xfrm>
            <a:off x="720" y="720"/>
            <a:ext cx="9141840" cy="5141520"/>
          </a:xfrm>
          <a:custGeom>
            <a:avLst/>
            <a:gdLst>
              <a:gd name="textAreaLeft" fmla="*/ 0 w 9141840"/>
              <a:gd name="textAreaRight" fmla="*/ 9142560 w 9141840"/>
              <a:gd name="textAreaTop" fmla="*/ 0 h 5141520"/>
              <a:gd name="textAreaBottom" fmla="*/ 5142240 h 5141520"/>
            </a:gdLst>
            <a:ahLst/>
            <a:cxnLst/>
            <a:rect l="textAreaLeft" t="textAreaTop" r="textAreaRight" b="textAreaBottom"/>
            <a:pathLst>
              <a:path w="9142730" h="5142230">
                <a:moveTo>
                  <a:pt x="0" y="0"/>
                </a:moveTo>
                <a:lnTo>
                  <a:pt x="9142476" y="0"/>
                </a:lnTo>
                <a:lnTo>
                  <a:pt x="9142476" y="5141976"/>
                </a:lnTo>
                <a:lnTo>
                  <a:pt x="0" y="5141976"/>
                </a:lnTo>
                <a:lnTo>
                  <a:pt x="0" y="0"/>
                </a:lnTo>
                <a:close/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sldNum" idx="16"/>
          </p:nvPr>
        </p:nvSpPr>
        <p:spPr>
          <a:xfrm>
            <a:off x="8816400" y="4785480"/>
            <a:ext cx="229320" cy="313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73080" indent="0">
              <a:lnSpc>
                <a:spcPct val="100000"/>
              </a:lnSpc>
              <a:buNone/>
              <a:tabLst>
                <a:tab pos="0" algn="l"/>
              </a:tabLst>
              <a:defRPr lang="ru-RU" sz="1000" b="0" u="none" strike="noStrike" spc="-51">
                <a:solidFill>
                  <a:schemeClr val="dk1"/>
                </a:solidFill>
                <a:effectLst/>
                <a:uFillTx/>
                <a:latin typeface="Microsoft Sans Serif"/>
              </a:defRPr>
            </a:lvl1pPr>
          </a:lstStyle>
          <a:p>
            <a:pPr marL="73080" indent="0">
              <a:lnSpc>
                <a:spcPct val="100000"/>
              </a:lnSpc>
              <a:buNone/>
              <a:tabLst>
                <a:tab pos="0" algn="l"/>
              </a:tabLst>
            </a:pPr>
            <a:fld id="{3CEEC41F-0B9B-404B-BE22-55957F9237CD}" type="slidenum">
              <a:rPr lang="ru-RU" sz="1000" b="0" u="none" strike="noStrike" spc="-51">
                <a:solidFill>
                  <a:schemeClr val="dk1"/>
                </a:solidFill>
                <a:effectLst/>
                <a:uFillTx/>
                <a:latin typeface="Microsoft Sans Serif"/>
              </a:rPr>
              <a:t>2</a:t>
            </a:fld>
            <a:endParaRPr lang="ru-RU" sz="1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9CE1AE-A2EB-52CE-88E0-2B2A729ECE7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801" t="18265" b="5967"/>
          <a:stretch>
            <a:fillRect/>
          </a:stretch>
        </p:blipFill>
        <p:spPr>
          <a:xfrm>
            <a:off x="5068359" y="512307"/>
            <a:ext cx="3345142" cy="41176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object 2"/>
          <p:cNvPicPr/>
          <p:nvPr/>
        </p:nvPicPr>
        <p:blipFill>
          <a:blip r:embed="rId2"/>
          <a:stretch/>
        </p:blipFill>
        <p:spPr>
          <a:xfrm>
            <a:off x="-13508" y="54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" name="object 3"/>
          <p:cNvSpPr/>
          <p:nvPr/>
        </p:nvSpPr>
        <p:spPr>
          <a:xfrm>
            <a:off x="6171120" y="1530000"/>
            <a:ext cx="2423160" cy="31411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14000"/>
              </a:lnSpc>
              <a:spcBef>
                <a:spcPts val="99"/>
              </a:spcBef>
            </a:pP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Ведение</a:t>
            </a:r>
            <a:r>
              <a:rPr lang="ru-RU" sz="2000" b="0" u="none" strike="noStrike" spc="-85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1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бумажных 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записей</a:t>
            </a:r>
            <a:r>
              <a:rPr lang="ru-RU" sz="2000" b="0" u="none" strike="noStrike" spc="-7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20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неудобно</a:t>
            </a:r>
            <a:r>
              <a:rPr lang="ru-RU" sz="2000" b="0" u="none" strike="noStrike" spc="-7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5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и </a:t>
            </a:r>
            <a:r>
              <a:rPr lang="ru-RU" sz="2000" b="0" u="none" strike="noStrike" spc="-1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подвержено</a:t>
            </a:r>
            <a:r>
              <a:rPr lang="ru-RU" sz="2000" b="0" u="none" strike="noStrike" spc="-96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1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ошибкам, 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что</a:t>
            </a:r>
            <a:r>
              <a:rPr lang="ru-RU" sz="2000" b="0" u="none" strike="noStrike" spc="-79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влечет</a:t>
            </a:r>
            <a:r>
              <a:rPr lang="ru-RU" sz="2000" b="0" u="none" strike="noStrike" spc="-74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1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потерю 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данных</a:t>
            </a:r>
            <a:r>
              <a:rPr lang="ru-RU" sz="2000" b="0" u="none" strike="noStrike" spc="-7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о</a:t>
            </a:r>
            <a:r>
              <a:rPr lang="ru-RU" sz="2000" b="0" u="none" strike="noStrike" spc="-60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1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расходах</a:t>
            </a:r>
            <a:r>
              <a:rPr lang="ru-RU" sz="2000" b="0" u="none" strike="noStrike" spc="-60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5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и </a:t>
            </a:r>
            <a:r>
              <a:rPr lang="ru-RU" sz="2000" b="0" u="none" strike="noStrike" spc="-1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пополнениях, усложняя</a:t>
            </a:r>
            <a:r>
              <a:rPr lang="ru-RU" sz="2000" b="0" u="none" strike="noStrike" spc="-54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1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контроль финансов.</a:t>
            </a:r>
            <a:endParaRPr lang="ru-RU" sz="20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object 4"/>
          <p:cNvSpPr/>
          <p:nvPr/>
        </p:nvSpPr>
        <p:spPr>
          <a:xfrm>
            <a:off x="405720" y="1530000"/>
            <a:ext cx="2404080" cy="317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14000"/>
              </a:lnSpc>
              <a:spcBef>
                <a:spcPts val="99"/>
              </a:spcBef>
            </a:pP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Отсутствие</a:t>
            </a:r>
            <a:r>
              <a:rPr lang="ru-RU" sz="2000" b="0" u="none" strike="noStrike" spc="-60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1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простых</a:t>
            </a:r>
            <a:r>
              <a:rPr lang="ru-RU" sz="2000" b="0" u="none" strike="noStrike" spc="499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и</a:t>
            </a:r>
            <a:r>
              <a:rPr lang="ru-RU" sz="2000" b="0" u="none" strike="noStrike" spc="-34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20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удобных</a:t>
            </a:r>
            <a:r>
              <a:rPr lang="ru-RU" sz="2000" b="0" u="none" strike="noStrike" spc="-3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1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средств 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для</a:t>
            </a:r>
            <a:r>
              <a:rPr lang="ru-RU" sz="2000" b="0" u="none" strike="noStrike" spc="-26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1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отслеживания наличных</a:t>
            </a:r>
            <a:r>
              <a:rPr lang="ru-RU" sz="2000" b="0" u="none" strike="noStrike" spc="499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1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накоплений</a:t>
            </a:r>
            <a:r>
              <a:rPr lang="ru-RU" sz="2000" b="0" u="none" strike="noStrike" spc="-11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1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снижает мотивацию</a:t>
            </a:r>
            <a:r>
              <a:rPr lang="ru-RU" sz="2000" b="0" u="none" strike="noStrike" spc="-7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1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регулярно копить</a:t>
            </a:r>
            <a:r>
              <a:rPr lang="ru-RU" sz="2000" b="0" u="none" strike="noStrike" spc="-85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деньги</a:t>
            </a:r>
            <a:r>
              <a:rPr lang="ru-RU" sz="2000" b="0" u="none" strike="noStrike" spc="-79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5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и</a:t>
            </a:r>
            <a:r>
              <a:rPr lang="ru-RU" sz="2000" b="0" u="none" strike="noStrike" spc="499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вести</a:t>
            </a:r>
            <a:r>
              <a:rPr lang="ru-RU" sz="2000" b="0" u="none" strike="noStrike" spc="-14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учет</a:t>
            </a:r>
            <a:r>
              <a:rPr lang="ru-RU" sz="2000" b="0" u="none" strike="noStrike" spc="-1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своих сбережений.</a:t>
            </a:r>
            <a:endParaRPr lang="ru-RU" sz="20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object 5"/>
          <p:cNvSpPr/>
          <p:nvPr/>
        </p:nvSpPr>
        <p:spPr>
          <a:xfrm>
            <a:off x="3325320" y="1530000"/>
            <a:ext cx="2316960" cy="317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14000"/>
              </a:lnSpc>
              <a:spcBef>
                <a:spcPts val="99"/>
              </a:spcBef>
            </a:pP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Неясность</a:t>
            </a:r>
            <a:r>
              <a:rPr lang="ru-RU" sz="2000" b="0" u="none" strike="noStrike" spc="-20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1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состояния 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баланса</a:t>
            </a:r>
            <a:r>
              <a:rPr lang="ru-RU" sz="2000" b="0" u="none" strike="noStrike" spc="6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20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часто </a:t>
            </a:r>
            <a:r>
              <a:rPr lang="ru-RU" sz="2000" b="0" u="none" strike="noStrike" spc="-1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приводит</a:t>
            </a:r>
            <a:r>
              <a:rPr lang="ru-RU" sz="2000" b="0" u="none" strike="noStrike" spc="-5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к</a:t>
            </a:r>
            <a:r>
              <a:rPr lang="ru-RU" sz="2000" b="0" u="none" strike="noStrike" spc="-45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1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потере 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интереса</a:t>
            </a:r>
            <a:r>
              <a:rPr lang="ru-RU" sz="2000" b="0" u="none" strike="noStrike" spc="20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5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и </a:t>
            </a:r>
            <a:r>
              <a:rPr lang="ru-RU" sz="2000" b="0" u="none" strike="noStrike" spc="-1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прекращению накопления,</a:t>
            </a:r>
            <a:r>
              <a:rPr lang="ru-RU" sz="2000" b="0" u="none" strike="noStrike" spc="-54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так</a:t>
            </a:r>
            <a:r>
              <a:rPr lang="ru-RU" sz="2000" b="0" u="none" strike="noStrike" spc="-5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26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как </a:t>
            </a:r>
            <a:r>
              <a:rPr lang="ru-RU" sz="2000" b="0" u="none" strike="noStrike" spc="-1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пользователи</a:t>
            </a:r>
            <a:r>
              <a:rPr lang="ru-RU" sz="2000" b="0" u="none" strike="noStrike" spc="-96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34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не 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видят</a:t>
            </a:r>
            <a:r>
              <a:rPr lang="ru-RU" sz="2000" b="0" u="none" strike="noStrike" spc="-54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1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актуальной информации.</a:t>
            </a:r>
            <a:endParaRPr lang="ru-RU" sz="20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325080" y="161640"/>
            <a:ext cx="6695922" cy="35091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12240" rIns="0" bIns="0" anchor="t">
            <a:spAutoFit/>
          </a:bodyPr>
          <a:lstStyle/>
          <a:p>
            <a:pPr indent="0">
              <a:lnSpc>
                <a:spcPct val="100000"/>
              </a:lnSpc>
              <a:spcBef>
                <a:spcPts val="0"/>
              </a:spcBef>
              <a:buNone/>
              <a:tabLst>
                <a:tab pos="0" algn="l"/>
              </a:tabLst>
            </a:pPr>
            <a:r>
              <a:rPr lang="ru-RU" sz="2200" b="1" u="none" strike="noStrike" spc="-20" dirty="0">
                <a:solidFill>
                  <a:schemeClr val="dk1"/>
                </a:solidFill>
                <a:effectLst/>
                <a:uFillTx/>
                <a:latin typeface="Times New Roman"/>
              </a:rPr>
              <a:t>Проблематика:</a:t>
            </a:r>
            <a:r>
              <a:rPr lang="ru-RU" sz="2200" b="1" u="none" strike="noStrike" spc="-60" dirty="0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r>
              <a:rPr lang="ru-RU" sz="2200" b="1" u="none" strike="noStrike" spc="-11" dirty="0">
                <a:solidFill>
                  <a:schemeClr val="dk1"/>
                </a:solidFill>
                <a:effectLst/>
                <a:uFillTx/>
                <a:latin typeface="Times New Roman"/>
              </a:rPr>
              <a:t>недостаточный</a:t>
            </a:r>
            <a:r>
              <a:rPr lang="ru-RU" sz="2200" b="1" u="none" strike="noStrike" spc="-54" dirty="0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r>
              <a:rPr lang="ru-RU" sz="2200" b="1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контроль</a:t>
            </a:r>
            <a:r>
              <a:rPr lang="ru-RU" sz="2200" b="1" u="none" strike="noStrike" spc="-54" dirty="0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r>
              <a:rPr lang="ru-RU" sz="2200" b="1" u="none" strike="noStrike" spc="-11" dirty="0">
                <a:solidFill>
                  <a:schemeClr val="dk1"/>
                </a:solidFill>
                <a:effectLst/>
                <a:uFillTx/>
                <a:latin typeface="Times New Roman"/>
              </a:rPr>
              <a:t>накоплений</a:t>
            </a:r>
            <a:endParaRPr lang="ru-RU" sz="2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object 7"/>
          <p:cNvSpPr/>
          <p:nvPr/>
        </p:nvSpPr>
        <p:spPr>
          <a:xfrm>
            <a:off x="720" y="720"/>
            <a:ext cx="9141840" cy="5141520"/>
          </a:xfrm>
          <a:custGeom>
            <a:avLst/>
            <a:gdLst>
              <a:gd name="textAreaLeft" fmla="*/ 0 w 9141840"/>
              <a:gd name="textAreaRight" fmla="*/ 9142560 w 9141840"/>
              <a:gd name="textAreaTop" fmla="*/ 0 h 5141520"/>
              <a:gd name="textAreaBottom" fmla="*/ 5142240 h 5141520"/>
            </a:gdLst>
            <a:ahLst/>
            <a:cxnLst/>
            <a:rect l="textAreaLeft" t="textAreaTop" r="textAreaRight" b="textAreaBottom"/>
            <a:pathLst>
              <a:path w="9142730" h="5142230">
                <a:moveTo>
                  <a:pt x="0" y="0"/>
                </a:moveTo>
                <a:lnTo>
                  <a:pt x="9142476" y="0"/>
                </a:lnTo>
                <a:lnTo>
                  <a:pt x="9142476" y="5141976"/>
                </a:lnTo>
                <a:lnTo>
                  <a:pt x="0" y="5141976"/>
                </a:lnTo>
                <a:lnTo>
                  <a:pt x="0" y="0"/>
                </a:lnTo>
                <a:close/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17"/>
          </p:nvPr>
        </p:nvSpPr>
        <p:spPr>
          <a:xfrm>
            <a:off x="8816400" y="4785480"/>
            <a:ext cx="229320" cy="313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73080" indent="0">
              <a:lnSpc>
                <a:spcPct val="100000"/>
              </a:lnSpc>
              <a:buNone/>
              <a:tabLst>
                <a:tab pos="0" algn="l"/>
              </a:tabLst>
              <a:defRPr lang="ru-RU" sz="1000" b="0" u="none" strike="noStrike" spc="-51">
                <a:solidFill>
                  <a:schemeClr val="dk1"/>
                </a:solidFill>
                <a:effectLst/>
                <a:uFillTx/>
                <a:latin typeface="Microsoft Sans Serif"/>
              </a:defRPr>
            </a:lvl1pPr>
          </a:lstStyle>
          <a:p>
            <a:pPr marL="73080" indent="0">
              <a:lnSpc>
                <a:spcPct val="100000"/>
              </a:lnSpc>
              <a:buNone/>
              <a:tabLst>
                <a:tab pos="0" algn="l"/>
              </a:tabLst>
            </a:pPr>
            <a:fld id="{39697F7B-FE42-4036-9307-0335C7936C66}" type="slidenum">
              <a:rPr lang="ru-RU" sz="1000" b="0" u="none" strike="noStrike" spc="-51">
                <a:solidFill>
                  <a:schemeClr val="dk1"/>
                </a:solidFill>
                <a:effectLst/>
                <a:uFillTx/>
                <a:latin typeface="Microsoft Sans Serif"/>
              </a:rPr>
              <a:t>3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object 2"/>
          <p:cNvSpPr/>
          <p:nvPr/>
        </p:nvSpPr>
        <p:spPr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9144000" h="5143500">
                <a:moveTo>
                  <a:pt x="9144000" y="5143500"/>
                </a:moveTo>
                <a:lnTo>
                  <a:pt x="0" y="5143500"/>
                </a:lnTo>
                <a:lnTo>
                  <a:pt x="0" y="0"/>
                </a:lnTo>
                <a:lnTo>
                  <a:pt x="9144000" y="0"/>
                </a:lnTo>
                <a:lnTo>
                  <a:pt x="9144000" y="5143500"/>
                </a:lnTo>
                <a:close/>
              </a:path>
            </a:pathLst>
          </a:custGeom>
          <a:solidFill>
            <a:srgbClr val="F9F8E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4" name="object 3"/>
          <p:cNvGrpSpPr/>
          <p:nvPr/>
        </p:nvGrpSpPr>
        <p:grpSpPr>
          <a:xfrm>
            <a:off x="0" y="540"/>
            <a:ext cx="9143280" cy="5142960"/>
            <a:chOff x="0" y="0"/>
            <a:chExt cx="9143280" cy="5142960"/>
          </a:xfrm>
        </p:grpSpPr>
        <p:pic>
          <p:nvPicPr>
            <p:cNvPr id="45" name="object 4"/>
            <p:cNvPicPr/>
            <p:nvPr/>
          </p:nvPicPr>
          <p:blipFill>
            <a:blip r:embed="rId2"/>
            <a:stretch/>
          </p:blipFill>
          <p:spPr>
            <a:xfrm>
              <a:off x="419040" y="3003840"/>
              <a:ext cx="2699640" cy="17870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6" name="object 5"/>
            <p:cNvPicPr/>
            <p:nvPr/>
          </p:nvPicPr>
          <p:blipFill>
            <a:blip r:embed="rId3"/>
            <a:stretch/>
          </p:blipFill>
          <p:spPr>
            <a:xfrm>
              <a:off x="0" y="0"/>
              <a:ext cx="9143280" cy="51429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7" name="object 6"/>
            <p:cNvPicPr/>
            <p:nvPr/>
          </p:nvPicPr>
          <p:blipFill>
            <a:blip r:embed="rId4"/>
            <a:stretch/>
          </p:blipFill>
          <p:spPr>
            <a:xfrm>
              <a:off x="3198960" y="3003840"/>
              <a:ext cx="2699640" cy="17870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8" name="object 7"/>
            <p:cNvPicPr/>
            <p:nvPr/>
          </p:nvPicPr>
          <p:blipFill>
            <a:blip r:embed="rId5"/>
            <a:stretch/>
          </p:blipFill>
          <p:spPr>
            <a:xfrm>
              <a:off x="0" y="0"/>
              <a:ext cx="9143280" cy="51429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9" name="object 8"/>
            <p:cNvPicPr/>
            <p:nvPr/>
          </p:nvPicPr>
          <p:blipFill>
            <a:blip r:embed="rId6"/>
            <a:stretch/>
          </p:blipFill>
          <p:spPr>
            <a:xfrm>
              <a:off x="5980320" y="3003840"/>
              <a:ext cx="2699640" cy="17870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0" name="object 9"/>
            <p:cNvPicPr/>
            <p:nvPr/>
          </p:nvPicPr>
          <p:blipFill>
            <a:blip r:embed="rId7"/>
            <a:stretch/>
          </p:blipFill>
          <p:spPr>
            <a:xfrm>
              <a:off x="0" y="0"/>
              <a:ext cx="9143280" cy="51429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19040" y="161592"/>
            <a:ext cx="6354016" cy="3820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12600" rIns="0" bIns="0" anchor="t">
            <a:spAutoFit/>
          </a:bodyPr>
          <a:lstStyle/>
          <a:p>
            <a:pPr marL="92880" indent="0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</a:tabLst>
            </a:pPr>
            <a:r>
              <a:rPr lang="ru-RU" sz="2400" b="1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Актуальность</a:t>
            </a:r>
            <a:r>
              <a:rPr lang="ru-RU" sz="2400" b="1" u="none" strike="noStrike" spc="-119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1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внедрения</a:t>
            </a:r>
            <a:r>
              <a:rPr lang="ru-RU" sz="2400" b="1" u="none" strike="noStrike" spc="-119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1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умных</a:t>
            </a:r>
            <a:r>
              <a:rPr lang="ru-RU" sz="2400" b="1" u="none" strike="noStrike" spc="-119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1" u="none" strike="noStrike" spc="-11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копилок</a:t>
            </a:r>
            <a:endParaRPr lang="ru-RU" sz="24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object 11"/>
          <p:cNvSpPr/>
          <p:nvPr/>
        </p:nvSpPr>
        <p:spPr>
          <a:xfrm>
            <a:off x="920794" y="1270597"/>
            <a:ext cx="1696132" cy="138822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12600" rIns="0" bIns="0" anchor="t">
            <a:spAutoFit/>
          </a:bodyPr>
          <a:lstStyle/>
          <a:p>
            <a:pPr marL="12600" indent="-720" algn="ctr">
              <a:lnSpc>
                <a:spcPct val="114000"/>
              </a:lnSpc>
              <a:spcBef>
                <a:spcPts val="99"/>
              </a:spcBef>
              <a:tabLst>
                <a:tab pos="0" algn="l"/>
              </a:tabLst>
            </a:pPr>
            <a:r>
              <a:rPr lang="ru-RU" sz="2000" b="0" u="none" strike="noStrike" spc="-20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Рост </a:t>
            </a:r>
            <a:r>
              <a:rPr lang="ru-RU" sz="2000" b="0" u="none" strike="noStrike" spc="-1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популярности цифровых финансов</a:t>
            </a:r>
            <a:endParaRPr lang="ru-RU" sz="20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object 12"/>
          <p:cNvSpPr/>
          <p:nvPr/>
        </p:nvSpPr>
        <p:spPr>
          <a:xfrm>
            <a:off x="3798180" y="1255054"/>
            <a:ext cx="1568880" cy="142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240" indent="-720" algn="ctr">
              <a:lnSpc>
                <a:spcPct val="114000"/>
              </a:lnSpc>
              <a:spcBef>
                <a:spcPts val="99"/>
              </a:spcBef>
              <a:tabLst>
                <a:tab pos="0" algn="l"/>
              </a:tabLst>
            </a:pPr>
            <a:r>
              <a:rPr lang="ru-RU" sz="2000" b="0" u="none" strike="noStrike" spc="-1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Важность финансовой 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грамотности</a:t>
            </a:r>
            <a:r>
              <a:rPr lang="ru-RU" sz="2000" b="0" u="none" strike="noStrike" spc="-60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5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с </a:t>
            </a:r>
            <a:r>
              <a:rPr lang="ru-RU" sz="2000" b="0" u="none" strike="noStrike" spc="-1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детства</a:t>
            </a:r>
            <a:endParaRPr lang="ru-RU" sz="20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object 13"/>
          <p:cNvSpPr/>
          <p:nvPr/>
        </p:nvSpPr>
        <p:spPr>
          <a:xfrm>
            <a:off x="6401559" y="1446735"/>
            <a:ext cx="1857162" cy="103595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12600" rIns="0" bIns="0" anchor="t">
            <a:spAutoFit/>
          </a:bodyPr>
          <a:lstStyle/>
          <a:p>
            <a:pPr marL="12600" algn="ctr">
              <a:lnSpc>
                <a:spcPct val="114000"/>
              </a:lnSpc>
              <a:spcBef>
                <a:spcPts val="99"/>
              </a:spcBef>
            </a:pPr>
            <a:r>
              <a:rPr lang="ru-RU" sz="2000" b="0" u="none" strike="noStrike" spc="-26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Необходимость </a:t>
            </a:r>
            <a:r>
              <a:rPr lang="ru-RU" sz="2000" b="0" u="none" strike="noStrike" spc="-1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автоматизации учета</a:t>
            </a:r>
            <a:endParaRPr lang="ru-RU" sz="20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object 14"/>
          <p:cNvSpPr/>
          <p:nvPr/>
        </p:nvSpPr>
        <p:spPr>
          <a:xfrm>
            <a:off x="720" y="720"/>
            <a:ext cx="9141840" cy="5141520"/>
          </a:xfrm>
          <a:custGeom>
            <a:avLst/>
            <a:gdLst>
              <a:gd name="textAreaLeft" fmla="*/ 0 w 9141840"/>
              <a:gd name="textAreaRight" fmla="*/ 9142560 w 9141840"/>
              <a:gd name="textAreaTop" fmla="*/ 0 h 5141520"/>
              <a:gd name="textAreaBottom" fmla="*/ 5142240 h 5141520"/>
            </a:gdLst>
            <a:ahLst/>
            <a:cxnLst/>
            <a:rect l="textAreaLeft" t="textAreaTop" r="textAreaRight" b="textAreaBottom"/>
            <a:pathLst>
              <a:path w="9142730" h="5142230">
                <a:moveTo>
                  <a:pt x="0" y="0"/>
                </a:moveTo>
                <a:lnTo>
                  <a:pt x="9142476" y="0"/>
                </a:lnTo>
                <a:lnTo>
                  <a:pt x="9142476" y="5141976"/>
                </a:lnTo>
                <a:lnTo>
                  <a:pt x="0" y="5141976"/>
                </a:lnTo>
                <a:lnTo>
                  <a:pt x="0" y="0"/>
                </a:lnTo>
                <a:close/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sldNum" idx="18"/>
          </p:nvPr>
        </p:nvSpPr>
        <p:spPr>
          <a:xfrm>
            <a:off x="8816400" y="4785480"/>
            <a:ext cx="229320" cy="313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73080" indent="0">
              <a:lnSpc>
                <a:spcPct val="100000"/>
              </a:lnSpc>
              <a:buNone/>
              <a:tabLst>
                <a:tab pos="0" algn="l"/>
              </a:tabLst>
              <a:defRPr lang="ru-RU" sz="1000" b="0" u="none" strike="noStrike" spc="-51">
                <a:solidFill>
                  <a:schemeClr val="dk1"/>
                </a:solidFill>
                <a:effectLst/>
                <a:uFillTx/>
                <a:latin typeface="Microsoft Sans Serif"/>
              </a:defRPr>
            </a:lvl1pPr>
          </a:lstStyle>
          <a:p>
            <a:pPr marL="73080" indent="0">
              <a:lnSpc>
                <a:spcPct val="100000"/>
              </a:lnSpc>
              <a:buNone/>
              <a:tabLst>
                <a:tab pos="0" algn="l"/>
              </a:tabLst>
            </a:pPr>
            <a:fld id="{B5A9BCED-6170-4802-ACC5-F0C05C8CEF31}" type="slidenum">
              <a:rPr lang="ru-RU" sz="1000" b="0" u="none" strike="noStrike" spc="-51">
                <a:solidFill>
                  <a:schemeClr val="dk1"/>
                </a:solidFill>
                <a:effectLst/>
                <a:uFillTx/>
                <a:latin typeface="Microsoft Sans Serif"/>
              </a:rPr>
              <a:t>4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09659A-DDCA-2C98-C66F-8A79AC231A7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95" t="-33436" r="295" b="33436"/>
          <a:stretch>
            <a:fillRect/>
          </a:stretch>
        </p:blipFill>
        <p:spPr>
          <a:xfrm>
            <a:off x="3198240" y="2106000"/>
            <a:ext cx="2685240" cy="26852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54959B7-17C9-6BB7-8F91-960176949B9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320" y="3003840"/>
            <a:ext cx="2698200" cy="17915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5E6AB64-1124-0FD6-A1F2-3E621813B37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10" b="10929"/>
          <a:stretch>
            <a:fillRect/>
          </a:stretch>
        </p:blipFill>
        <p:spPr>
          <a:xfrm>
            <a:off x="5979600" y="3003120"/>
            <a:ext cx="2685240" cy="17792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object 2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pic>
          <p:nvPicPr>
            <p:cNvPr id="58" name="object 3"/>
            <p:cNvPicPr/>
            <p:nvPr/>
          </p:nvPicPr>
          <p:blipFill>
            <a:blip r:embed="rId2"/>
            <a:stretch/>
          </p:blipFill>
          <p:spPr>
            <a:xfrm>
              <a:off x="0" y="0"/>
              <a:ext cx="9143280" cy="51429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9" name="object 4"/>
            <p:cNvPicPr/>
            <p:nvPr/>
          </p:nvPicPr>
          <p:blipFill>
            <a:blip r:embed="rId3"/>
            <a:stretch/>
          </p:blipFill>
          <p:spPr>
            <a:xfrm>
              <a:off x="637200" y="1289160"/>
              <a:ext cx="217080" cy="2170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0" name="object 5"/>
            <p:cNvPicPr/>
            <p:nvPr/>
          </p:nvPicPr>
          <p:blipFill>
            <a:blip r:embed="rId4"/>
            <a:stretch/>
          </p:blipFill>
          <p:spPr>
            <a:xfrm>
              <a:off x="0" y="0"/>
              <a:ext cx="9143280" cy="51429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1" name="object 6"/>
            <p:cNvPicPr/>
            <p:nvPr/>
          </p:nvPicPr>
          <p:blipFill>
            <a:blip r:embed="rId5"/>
            <a:stretch/>
          </p:blipFill>
          <p:spPr>
            <a:xfrm>
              <a:off x="4915080" y="1286280"/>
              <a:ext cx="168480" cy="2250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2" name="object 7"/>
            <p:cNvPicPr/>
            <p:nvPr/>
          </p:nvPicPr>
          <p:blipFill>
            <a:blip r:embed="rId6"/>
            <a:stretch/>
          </p:blipFill>
          <p:spPr>
            <a:xfrm>
              <a:off x="0" y="0"/>
              <a:ext cx="9143280" cy="51429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3" name="object 8"/>
            <p:cNvPicPr/>
            <p:nvPr/>
          </p:nvPicPr>
          <p:blipFill>
            <a:blip r:embed="rId7"/>
            <a:stretch/>
          </p:blipFill>
          <p:spPr>
            <a:xfrm>
              <a:off x="637200" y="3180600"/>
              <a:ext cx="217080" cy="1746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4" name="object 9"/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8"/>
            <a:stretch/>
          </p:blipFill>
          <p:spPr>
            <a:xfrm>
              <a:off x="0" y="0"/>
              <a:ext cx="9143280" cy="51429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5" name="object 10"/>
            <p:cNvPicPr/>
            <p:nvPr/>
          </p:nvPicPr>
          <p:blipFill>
            <a:blip r:embed="rId9"/>
            <a:stretch/>
          </p:blipFill>
          <p:spPr>
            <a:xfrm>
              <a:off x="4890600" y="3159360"/>
              <a:ext cx="217080" cy="21708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325079" y="161640"/>
            <a:ext cx="8221761" cy="47511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196200" rIns="0" bIns="0" anchor="t">
            <a:spAutoFit/>
          </a:bodyPr>
          <a:lstStyle/>
          <a:p>
            <a:pPr indent="0">
              <a:lnSpc>
                <a:spcPct val="100000"/>
              </a:lnSpc>
              <a:spcBef>
                <a:spcPts val="0"/>
              </a:spcBef>
              <a:buNone/>
              <a:tabLst>
                <a:tab pos="0" algn="l"/>
              </a:tabLst>
            </a:pPr>
            <a:r>
              <a:rPr lang="ru-RU" sz="1800" b="1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Описание</a:t>
            </a:r>
            <a:r>
              <a:rPr lang="ru-RU" sz="1800" b="1" u="none" strike="noStrike" spc="-65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b="1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идеи:</a:t>
            </a:r>
            <a:r>
              <a:rPr lang="ru-RU" sz="1800" b="1" u="none" strike="noStrike" spc="-65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b="1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сочетание</a:t>
            </a:r>
            <a:r>
              <a:rPr lang="ru-RU" sz="1800" b="1" u="none" strike="noStrike" spc="-65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b="1" u="none" strike="noStrike" spc="-11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аппаратуры</a:t>
            </a:r>
            <a:r>
              <a:rPr lang="ru-RU" sz="1800" b="1" u="none" strike="noStrike" spc="-71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b="1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и</a:t>
            </a:r>
            <a:r>
              <a:rPr lang="ru-RU" sz="1800" b="1" u="none" strike="noStrike" spc="-71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b="1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программного</a:t>
            </a:r>
            <a:r>
              <a:rPr lang="ru-RU" sz="1800" b="1" u="none" strike="noStrike" spc="-65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b="1" u="none" strike="noStrike" spc="-11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обеспечения</a:t>
            </a:r>
            <a:endParaRPr lang="ru-RU" sz="18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object 14"/>
          <p:cNvSpPr/>
          <p:nvPr/>
        </p:nvSpPr>
        <p:spPr>
          <a:xfrm>
            <a:off x="720" y="720"/>
            <a:ext cx="9141840" cy="5141520"/>
          </a:xfrm>
          <a:custGeom>
            <a:avLst/>
            <a:gdLst>
              <a:gd name="textAreaLeft" fmla="*/ 0 w 9141840"/>
              <a:gd name="textAreaRight" fmla="*/ 9142560 w 9141840"/>
              <a:gd name="textAreaTop" fmla="*/ 0 h 5141520"/>
              <a:gd name="textAreaBottom" fmla="*/ 5142240 h 5141520"/>
            </a:gdLst>
            <a:ahLst/>
            <a:cxnLst/>
            <a:rect l="textAreaLeft" t="textAreaTop" r="textAreaRight" b="textAreaBottom"/>
            <a:pathLst>
              <a:path w="9142730" h="5142230">
                <a:moveTo>
                  <a:pt x="0" y="0"/>
                </a:moveTo>
                <a:lnTo>
                  <a:pt x="9142476" y="0"/>
                </a:lnTo>
                <a:lnTo>
                  <a:pt x="9142476" y="5141976"/>
                </a:lnTo>
                <a:lnTo>
                  <a:pt x="0" y="5141976"/>
                </a:lnTo>
                <a:lnTo>
                  <a:pt x="0" y="0"/>
                </a:lnTo>
                <a:close/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sldNum" idx="19"/>
          </p:nvPr>
        </p:nvSpPr>
        <p:spPr>
          <a:xfrm>
            <a:off x="8816400" y="4785480"/>
            <a:ext cx="229320" cy="313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44280" indent="0">
              <a:lnSpc>
                <a:spcPts val="2290"/>
              </a:lnSpc>
              <a:buNone/>
              <a:tabLst>
                <a:tab pos="0" algn="l"/>
              </a:tabLst>
              <a:defRPr lang="ru-RU" sz="2000" b="0" u="none" strike="noStrike" spc="-51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marL="44280" indent="0">
              <a:lnSpc>
                <a:spcPts val="2290"/>
              </a:lnSpc>
              <a:buNone/>
              <a:tabLst>
                <a:tab pos="0" algn="l"/>
              </a:tabLst>
            </a:pPr>
            <a:fld id="{C27B0CA6-CD65-4311-875F-453FA33D5D13}" type="slidenum">
              <a:rPr lang="ru-RU" sz="2000" b="0" u="none" strike="noStrike" spc="-51">
                <a:solidFill>
                  <a:schemeClr val="dk1"/>
                </a:solidFill>
                <a:effectLst/>
                <a:uFillTx/>
                <a:latin typeface="Times New Roman"/>
              </a:rPr>
              <a:t>5</a:t>
            </a:fld>
            <a:endParaRPr lang="ru-RU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object 12">
            <a:extLst>
              <a:ext uri="{FF2B5EF4-FFF2-40B4-BE49-F238E27FC236}">
                <a16:creationId xmlns:a16="http://schemas.microsoft.com/office/drawing/2014/main" id="{F95AAEA2-A443-B816-D4E2-EEF6F9CB49AB}"/>
              </a:ext>
            </a:extLst>
          </p:cNvPr>
          <p:cNvSpPr/>
          <p:nvPr/>
        </p:nvSpPr>
        <p:spPr>
          <a:xfrm>
            <a:off x="550440" y="1607502"/>
            <a:ext cx="3710880" cy="139771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</a:pPr>
            <a:r>
              <a:rPr lang="ru-RU" spc="-1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Использование</a:t>
            </a:r>
            <a:r>
              <a:rPr lang="ru-RU" spc="-2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фотодиода</a:t>
            </a:r>
            <a:r>
              <a:rPr lang="ru-RU" spc="-14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pc="-5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 </a:t>
            </a:r>
            <a:r>
              <a:rPr lang="ru-RU" spc="-2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светодиода</a:t>
            </a:r>
            <a:r>
              <a:rPr lang="ru-RU" spc="-26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</a:t>
            </a:r>
            <a:r>
              <a:rPr lang="ru-RU" spc="-26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фиксации</a:t>
            </a:r>
            <a:r>
              <a:rPr lang="ru-RU" spc="-26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pc="-1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количества </a:t>
            </a: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добавленных</a:t>
            </a:r>
            <a:r>
              <a:rPr lang="ru-RU" spc="-5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монет</a:t>
            </a:r>
            <a:r>
              <a:rPr lang="ru-RU" spc="-34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</a:t>
            </a:r>
            <a:r>
              <a:rPr lang="ru-RU" spc="-34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pc="-1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копилку.</a:t>
            </a:r>
            <a:endParaRPr lang="ru-RU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600">
              <a:lnSpc>
                <a:spcPct val="100000"/>
              </a:lnSpc>
              <a:tabLst>
                <a:tab pos="0" algn="l"/>
              </a:tabLst>
            </a:pPr>
            <a:endParaRPr lang="ru-RU" sz="18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bject 12">
            <a:extLst>
              <a:ext uri="{FF2B5EF4-FFF2-40B4-BE49-F238E27FC236}">
                <a16:creationId xmlns:a16="http://schemas.microsoft.com/office/drawing/2014/main" id="{92F3604D-B9D1-87D6-983C-AA58A175A799}"/>
              </a:ext>
            </a:extLst>
          </p:cNvPr>
          <p:cNvSpPr/>
          <p:nvPr/>
        </p:nvSpPr>
        <p:spPr>
          <a:xfrm>
            <a:off x="637200" y="1240553"/>
            <a:ext cx="3710880" cy="28972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99"/>
              </a:spcBef>
            </a:pP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Аппаратное</a:t>
            </a:r>
            <a:r>
              <a:rPr lang="ru-RU" spc="-79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pc="-1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отслеживание</a:t>
            </a:r>
            <a:endParaRPr lang="ru-RU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12">
            <a:extLst>
              <a:ext uri="{FF2B5EF4-FFF2-40B4-BE49-F238E27FC236}">
                <a16:creationId xmlns:a16="http://schemas.microsoft.com/office/drawing/2014/main" id="{99F04A82-D67D-A896-8F93-064D051ECDB4}"/>
              </a:ext>
            </a:extLst>
          </p:cNvPr>
          <p:cNvSpPr/>
          <p:nvPr/>
        </p:nvSpPr>
        <p:spPr>
          <a:xfrm>
            <a:off x="550440" y="3481664"/>
            <a:ext cx="3710880" cy="112071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>
              <a:tabLst>
                <a:tab pos="0" algn="l"/>
              </a:tabLst>
            </a:pP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Все</a:t>
            </a:r>
            <a:r>
              <a:rPr lang="ru-RU" spc="-2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данные</a:t>
            </a:r>
            <a:r>
              <a:rPr lang="ru-RU" spc="-14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pc="-1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автоматически</a:t>
            </a:r>
            <a:endParaRPr lang="ru-RU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tabLst>
                <a:tab pos="0" algn="l"/>
              </a:tabLst>
            </a:pPr>
            <a:r>
              <a:rPr lang="ru-RU" spc="-1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отправляются</a:t>
            </a:r>
            <a:r>
              <a:rPr lang="ru-RU" spc="-14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</a:t>
            </a:r>
            <a:r>
              <a:rPr lang="ru-RU" spc="-14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сервер</a:t>
            </a:r>
            <a:r>
              <a:rPr lang="ru-RU" spc="-14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</a:t>
            </a:r>
            <a:r>
              <a:rPr lang="ru-RU" spc="-14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pc="-1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хранения </a:t>
            </a: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</a:t>
            </a:r>
            <a:r>
              <a:rPr lang="ru-RU" spc="-3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обработки</a:t>
            </a:r>
            <a:r>
              <a:rPr lang="ru-RU" spc="-3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</a:t>
            </a:r>
            <a:r>
              <a:rPr lang="ru-RU" spc="-26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реальном</a:t>
            </a:r>
            <a:r>
              <a:rPr lang="ru-RU" spc="-3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pc="-1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времени.</a:t>
            </a:r>
            <a:endParaRPr lang="en-US" spc="-1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bject 12">
            <a:extLst>
              <a:ext uri="{FF2B5EF4-FFF2-40B4-BE49-F238E27FC236}">
                <a16:creationId xmlns:a16="http://schemas.microsoft.com/office/drawing/2014/main" id="{15FAEA11-49B2-5AD2-2130-A902F6D1B39E}"/>
              </a:ext>
            </a:extLst>
          </p:cNvPr>
          <p:cNvSpPr/>
          <p:nvPr/>
        </p:nvSpPr>
        <p:spPr>
          <a:xfrm>
            <a:off x="637200" y="3106482"/>
            <a:ext cx="3710880" cy="28972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99"/>
              </a:spcBef>
            </a:pPr>
            <a:r>
              <a:rPr lang="ru-RU" spc="-1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Передача</a:t>
            </a:r>
            <a:r>
              <a:rPr lang="ru-RU" spc="-3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данных</a:t>
            </a:r>
            <a:r>
              <a:rPr lang="ru-RU" spc="-3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</a:t>
            </a:r>
            <a:r>
              <a:rPr lang="ru-RU" spc="-6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pc="-4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</a:t>
            </a:r>
            <a:r>
              <a:rPr lang="ru-RU" spc="-4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ru-RU" spc="-26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</a:t>
            </a:r>
            <a:endParaRPr lang="ru-RU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object 12">
            <a:extLst>
              <a:ext uri="{FF2B5EF4-FFF2-40B4-BE49-F238E27FC236}">
                <a16:creationId xmlns:a16="http://schemas.microsoft.com/office/drawing/2014/main" id="{E97AFCC0-CB69-97E6-B535-B2B109796E94}"/>
              </a:ext>
            </a:extLst>
          </p:cNvPr>
          <p:cNvSpPr/>
          <p:nvPr/>
        </p:nvSpPr>
        <p:spPr>
          <a:xfrm>
            <a:off x="4795922" y="1607502"/>
            <a:ext cx="3710880" cy="112071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</a:pPr>
            <a:r>
              <a:rPr lang="ru-RU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Связь</a:t>
            </a:r>
            <a:r>
              <a:rPr lang="ru-RU" spc="-54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</a:t>
            </a:r>
            <a:r>
              <a:rPr lang="ru-RU" spc="-45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ботом</a:t>
            </a:r>
            <a:r>
              <a:rPr lang="ru-RU" spc="-45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</a:t>
            </a:r>
            <a:r>
              <a:rPr lang="ru-RU" spc="-45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pc="-1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моментального </a:t>
            </a:r>
            <a:r>
              <a:rPr lang="ru-RU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показа</a:t>
            </a:r>
            <a:r>
              <a:rPr lang="ru-RU" spc="-3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баланса</a:t>
            </a:r>
            <a:r>
              <a:rPr lang="ru-RU" spc="-26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</a:t>
            </a:r>
            <a:r>
              <a:rPr lang="ru-RU" spc="-26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pc="-1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передачи </a:t>
            </a:r>
            <a:r>
              <a:rPr lang="ru-RU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информации</a:t>
            </a:r>
            <a:r>
              <a:rPr lang="ru-RU" spc="-3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</a:t>
            </a:r>
            <a:r>
              <a:rPr lang="ru-RU" spc="-3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pc="-1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транзакциях пользователю</a:t>
            </a:r>
            <a:endParaRPr lang="ru-RU" sz="18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object 12">
            <a:extLst>
              <a:ext uri="{FF2B5EF4-FFF2-40B4-BE49-F238E27FC236}">
                <a16:creationId xmlns:a16="http://schemas.microsoft.com/office/drawing/2014/main" id="{4B180B52-25AD-92B9-4D4C-F383F330CA2D}"/>
              </a:ext>
            </a:extLst>
          </p:cNvPr>
          <p:cNvSpPr/>
          <p:nvPr/>
        </p:nvSpPr>
        <p:spPr>
          <a:xfrm>
            <a:off x="4882682" y="1240553"/>
            <a:ext cx="3710880" cy="28972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503640" indent="0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</a:tabLst>
            </a:pPr>
            <a:r>
              <a:rPr lang="ru-RU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Интеграция</a:t>
            </a:r>
            <a:r>
              <a:rPr lang="ru-RU" spc="-3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</a:t>
            </a:r>
            <a:r>
              <a:rPr lang="ru-RU" spc="-54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pc="-11" dirty="0" err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Telegram</a:t>
            </a:r>
            <a:endParaRPr lang="ru-RU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object 12">
            <a:extLst>
              <a:ext uri="{FF2B5EF4-FFF2-40B4-BE49-F238E27FC236}">
                <a16:creationId xmlns:a16="http://schemas.microsoft.com/office/drawing/2014/main" id="{1C230F37-82F2-0108-F6C1-C45849AED9D0}"/>
              </a:ext>
            </a:extLst>
          </p:cNvPr>
          <p:cNvSpPr/>
          <p:nvPr/>
        </p:nvSpPr>
        <p:spPr>
          <a:xfrm>
            <a:off x="4811040" y="3461522"/>
            <a:ext cx="3710880" cy="112071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 indent="0">
              <a:lnSpc>
                <a:spcPct val="100000"/>
              </a:lnSpc>
              <a:spcBef>
                <a:spcPts val="1981"/>
              </a:spcBef>
              <a:buNone/>
              <a:tabLst>
                <a:tab pos="0" algn="l"/>
              </a:tabLst>
            </a:pPr>
            <a:r>
              <a:rPr lang="ru-RU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Возможность</a:t>
            </a:r>
            <a:r>
              <a:rPr lang="ru-RU" spc="-45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просмотра</a:t>
            </a:r>
            <a:r>
              <a:rPr lang="ru-RU" spc="-4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pc="-1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истории </a:t>
            </a:r>
            <a:r>
              <a:rPr lang="ru-RU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пополнений</a:t>
            </a:r>
            <a:r>
              <a:rPr lang="ru-RU" spc="-5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</a:t>
            </a:r>
            <a:r>
              <a:rPr lang="ru-RU" spc="-45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pc="-1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расходов</a:t>
            </a:r>
            <a:r>
              <a:rPr lang="ru-RU" spc="-5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с </a:t>
            </a:r>
            <a:r>
              <a:rPr lang="ru-RU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сохранением</a:t>
            </a:r>
            <a:r>
              <a:rPr lang="ru-RU" spc="-54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детализации</a:t>
            </a:r>
            <a:r>
              <a:rPr lang="ru-RU" spc="-5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pc="-1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каждой операции.</a:t>
            </a:r>
            <a:endParaRPr lang="ru-RU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object 12">
            <a:extLst>
              <a:ext uri="{FF2B5EF4-FFF2-40B4-BE49-F238E27FC236}">
                <a16:creationId xmlns:a16="http://schemas.microsoft.com/office/drawing/2014/main" id="{62160AC0-6BA4-4B83-E378-B6164C2444DA}"/>
              </a:ext>
            </a:extLst>
          </p:cNvPr>
          <p:cNvSpPr/>
          <p:nvPr/>
        </p:nvSpPr>
        <p:spPr>
          <a:xfrm>
            <a:off x="4811040" y="3106482"/>
            <a:ext cx="3710880" cy="28972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515520" indent="0">
              <a:lnSpc>
                <a:spcPct val="100000"/>
              </a:lnSpc>
              <a:spcBef>
                <a:spcPts val="1644"/>
              </a:spcBef>
              <a:buNone/>
              <a:tabLst>
                <a:tab pos="0" algn="l"/>
              </a:tabLst>
            </a:pPr>
            <a:r>
              <a:rPr lang="ru-RU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Отслеживание</a:t>
            </a:r>
            <a:r>
              <a:rPr lang="ru-RU" spc="-85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pc="-1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операций</a:t>
            </a:r>
            <a:endParaRPr lang="ru-RU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object 2"/>
          <p:cNvSpPr/>
          <p:nvPr/>
        </p:nvSpPr>
        <p:spPr>
          <a:xfrm>
            <a:off x="0" y="0"/>
            <a:ext cx="9143280" cy="51429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9144000" h="5143500">
                <a:moveTo>
                  <a:pt x="9144000" y="5143500"/>
                </a:moveTo>
                <a:lnTo>
                  <a:pt x="0" y="5143500"/>
                </a:lnTo>
                <a:lnTo>
                  <a:pt x="0" y="0"/>
                </a:lnTo>
                <a:lnTo>
                  <a:pt x="9144000" y="0"/>
                </a:lnTo>
                <a:lnTo>
                  <a:pt x="9144000" y="5143500"/>
                </a:lnTo>
                <a:close/>
              </a:path>
            </a:pathLst>
          </a:custGeom>
          <a:solidFill>
            <a:srgbClr val="F9F8E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2" name="object 3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pic>
          <p:nvPicPr>
            <p:cNvPr id="73" name="object 4"/>
            <p:cNvPicPr/>
            <p:nvPr/>
          </p:nvPicPr>
          <p:blipFill>
            <a:blip r:embed="rId2"/>
            <a:stretch/>
          </p:blipFill>
          <p:spPr>
            <a:xfrm>
              <a:off x="740520" y="1508760"/>
              <a:ext cx="3510720" cy="24012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4" name="object 5"/>
            <p:cNvPicPr/>
            <p:nvPr/>
          </p:nvPicPr>
          <p:blipFill>
            <a:blip r:embed="rId3"/>
            <a:stretch/>
          </p:blipFill>
          <p:spPr>
            <a:xfrm>
              <a:off x="0" y="0"/>
              <a:ext cx="9143280" cy="51429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75" name="object 6"/>
          <p:cNvSpPr/>
          <p:nvPr/>
        </p:nvSpPr>
        <p:spPr>
          <a:xfrm>
            <a:off x="405516" y="1508760"/>
            <a:ext cx="8410883" cy="316833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12600" rIns="0" bIns="0" anchor="t">
            <a:spAutoFit/>
          </a:bodyPr>
          <a:lstStyle/>
          <a:p>
            <a:pPr marL="4374360"/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Сравнение</a:t>
            </a:r>
            <a:r>
              <a:rPr lang="ru-RU" sz="2000" b="0" u="none" strike="noStrike" spc="-60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популярных</a:t>
            </a:r>
            <a:r>
              <a:rPr lang="ru-RU" sz="2000" b="0" u="none" strike="noStrike" spc="-60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решений</a:t>
            </a:r>
            <a:r>
              <a:rPr lang="ru-RU" sz="2000" b="0" u="none" strike="noStrike" spc="-54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26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по 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критериям</a:t>
            </a:r>
            <a:r>
              <a:rPr lang="ru-RU" sz="2000" b="0" u="none" strike="noStrike" spc="-65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1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удобства,</a:t>
            </a:r>
            <a:r>
              <a:rPr lang="ru-RU" sz="2000" b="0" u="none" strike="noStrike" spc="-65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1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автоматизации, 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мобильности</a:t>
            </a:r>
            <a:r>
              <a:rPr lang="ru-RU" sz="2000" b="0" u="none" strike="noStrike" spc="-20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и</a:t>
            </a:r>
            <a:r>
              <a:rPr lang="ru-RU" sz="2000" b="0" u="none" strike="noStrike" spc="-14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безопасности</a:t>
            </a:r>
            <a:r>
              <a:rPr lang="ru-RU" sz="2000" b="0" u="none" strike="noStrike" spc="-20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1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данных. </a:t>
            </a:r>
            <a:r>
              <a:rPr lang="ru-RU" sz="2000" b="0" u="none" strike="noStrike" spc="-20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Умная</a:t>
            </a:r>
            <a:r>
              <a:rPr lang="ru-RU" sz="2000" b="0" u="none" strike="noStrike" spc="-65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1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копилка</a:t>
            </a:r>
            <a:r>
              <a:rPr lang="ru-RU" sz="2000" b="0" u="none" strike="noStrike" spc="-65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сочетает</a:t>
            </a:r>
            <a:r>
              <a:rPr lang="ru-RU" sz="2000" b="0" u="none" strike="noStrike" spc="-65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20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автоматизацию</a:t>
            </a:r>
            <a:r>
              <a:rPr lang="ru-RU" sz="2000" b="0" u="none" strike="noStrike" spc="-65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5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и </a:t>
            </a:r>
            <a:r>
              <a:rPr lang="ru-RU" sz="2000" b="0" u="none" strike="noStrike" spc="-1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удобство</a:t>
            </a:r>
            <a:r>
              <a:rPr lang="ru-RU" sz="2000" b="0" u="none" strike="noStrike" spc="-85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мобильного</a:t>
            </a:r>
            <a:r>
              <a:rPr lang="ru-RU" sz="2000" b="0" u="none" strike="noStrike" spc="-79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1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доступа,</a:t>
            </a:r>
            <a:endParaRPr lang="ru-RU" sz="20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374360"/>
            <a:r>
              <a:rPr lang="ru-RU" sz="2000" b="0" u="none" strike="noStrike" spc="-1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превосходя</a:t>
            </a:r>
            <a:r>
              <a:rPr lang="ru-RU" sz="2000" b="0" u="none" strike="noStrike" spc="-45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традиционные</a:t>
            </a:r>
            <a:r>
              <a:rPr lang="ru-RU" sz="2000" b="0" u="none" strike="noStrike" spc="-40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1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методы.</a:t>
            </a:r>
            <a:endParaRPr lang="ru-RU" sz="20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374360">
              <a:lnSpc>
                <a:spcPct val="100000"/>
              </a:lnSpc>
              <a:spcBef>
                <a:spcPts val="499"/>
              </a:spcBef>
            </a:pPr>
            <a:endParaRPr lang="ru-RU" sz="20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600">
              <a:lnSpc>
                <a:spcPct val="114000"/>
              </a:lnSpc>
              <a:spcBef>
                <a:spcPts val="6"/>
              </a:spcBef>
            </a:pP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Анализ</a:t>
            </a:r>
            <a:r>
              <a:rPr lang="ru-RU" sz="2000" b="0" u="none" strike="noStrike" spc="-7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рынка</a:t>
            </a:r>
            <a:r>
              <a:rPr lang="ru-RU" sz="2000" b="0" u="none" strike="noStrike" spc="-65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20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умных 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финансовых</a:t>
            </a:r>
            <a:r>
              <a:rPr lang="ru-RU" sz="2000" b="0" u="none" strike="noStrike" spc="-74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устройств,</a:t>
            </a:r>
            <a:r>
              <a:rPr lang="ru-RU" sz="2000" b="0" u="none" strike="noStrike" spc="-74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20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2025</a:t>
            </a:r>
            <a:endParaRPr lang="ru-RU" sz="20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325080" y="161640"/>
            <a:ext cx="7806960" cy="607677"/>
          </a:xfrm>
          <a:prstGeom prst="rect">
            <a:avLst/>
          </a:prstGeom>
          <a:noFill/>
          <a:ln w="0">
            <a:noFill/>
          </a:ln>
        </p:spPr>
        <p:txBody>
          <a:bodyPr lIns="0" tIns="297000" rIns="0" bIns="0" anchor="t">
            <a:spAutoFit/>
          </a:bodyPr>
          <a:lstStyle/>
          <a:p>
            <a:pPr indent="0">
              <a:lnSpc>
                <a:spcPct val="100000"/>
              </a:lnSpc>
              <a:spcBef>
                <a:spcPts val="0"/>
              </a:spcBef>
              <a:buNone/>
              <a:tabLst>
                <a:tab pos="0" algn="l"/>
              </a:tabLst>
            </a:pPr>
            <a:r>
              <a:rPr lang="ru-RU" sz="2000" b="1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Сравнение</a:t>
            </a:r>
            <a:r>
              <a:rPr lang="ru-RU" sz="2000" b="1" u="none" strike="noStrike" spc="-54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1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с</a:t>
            </a:r>
            <a:r>
              <a:rPr lang="ru-RU" sz="2000" b="1" u="none" strike="noStrike" spc="-51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1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аналогами:</a:t>
            </a:r>
            <a:r>
              <a:rPr lang="ru-RU" sz="2000" b="1" u="none" strike="noStrike" spc="-54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1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функции</a:t>
            </a:r>
            <a:r>
              <a:rPr lang="ru-RU" sz="2000" b="1" u="none" strike="noStrike" spc="-54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1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и</a:t>
            </a:r>
            <a:r>
              <a:rPr lang="ru-RU" sz="2000" b="1" u="none" strike="noStrike" spc="-60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1" u="none" strike="noStrike" spc="-11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недостатки</a:t>
            </a:r>
            <a:endParaRPr lang="ru-RU" sz="20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object 8"/>
          <p:cNvSpPr/>
          <p:nvPr/>
        </p:nvSpPr>
        <p:spPr>
          <a:xfrm>
            <a:off x="720" y="720"/>
            <a:ext cx="9141840" cy="5141520"/>
          </a:xfrm>
          <a:custGeom>
            <a:avLst/>
            <a:gdLst>
              <a:gd name="textAreaLeft" fmla="*/ 0 w 9141840"/>
              <a:gd name="textAreaRight" fmla="*/ 9142560 w 9141840"/>
              <a:gd name="textAreaTop" fmla="*/ 0 h 5141520"/>
              <a:gd name="textAreaBottom" fmla="*/ 5142240 h 5141520"/>
            </a:gdLst>
            <a:ahLst/>
            <a:cxnLst/>
            <a:rect l="textAreaLeft" t="textAreaTop" r="textAreaRight" b="textAreaBottom"/>
            <a:pathLst>
              <a:path w="9142730" h="5142230">
                <a:moveTo>
                  <a:pt x="0" y="0"/>
                </a:moveTo>
                <a:lnTo>
                  <a:pt x="9142476" y="0"/>
                </a:lnTo>
                <a:lnTo>
                  <a:pt x="9142476" y="5141976"/>
                </a:lnTo>
                <a:lnTo>
                  <a:pt x="0" y="5141976"/>
                </a:lnTo>
                <a:lnTo>
                  <a:pt x="0" y="0"/>
                </a:lnTo>
                <a:close/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sldNum" idx="20"/>
          </p:nvPr>
        </p:nvSpPr>
        <p:spPr>
          <a:xfrm>
            <a:off x="8816400" y="4785480"/>
            <a:ext cx="229320" cy="313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44280" indent="0">
              <a:lnSpc>
                <a:spcPts val="2290"/>
              </a:lnSpc>
              <a:buNone/>
              <a:tabLst>
                <a:tab pos="0" algn="l"/>
              </a:tabLst>
              <a:defRPr lang="ru-RU" sz="2000" b="0" u="none" strike="noStrike" spc="-51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marL="44280" indent="0">
              <a:lnSpc>
                <a:spcPts val="2290"/>
              </a:lnSpc>
              <a:buNone/>
              <a:tabLst>
                <a:tab pos="0" algn="l"/>
              </a:tabLst>
            </a:pPr>
            <a:fld id="{E67659C8-9E7D-4C69-A93C-6755D0B73F76}" type="slidenum">
              <a:rPr lang="ru-RU" sz="2000" b="0" u="none" strike="noStrike" spc="-51">
                <a:solidFill>
                  <a:schemeClr val="dk1"/>
                </a:solidFill>
                <a:effectLst/>
                <a:uFillTx/>
                <a:latin typeface="Times New Roman"/>
              </a:rPr>
              <a:t>6</a:t>
            </a:fld>
            <a:endParaRPr lang="ru-RU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object 2"/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object 3"/>
          <p:cNvSpPr/>
          <p:nvPr/>
        </p:nvSpPr>
        <p:spPr>
          <a:xfrm>
            <a:off x="4889520" y="1132522"/>
            <a:ext cx="3795838" cy="155160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12600" rIns="0" bIns="0" anchor="t">
            <a:spAutoFit/>
          </a:bodyPr>
          <a:lstStyle/>
          <a:p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Разработать</a:t>
            </a:r>
            <a:r>
              <a:rPr lang="ru-RU" sz="2000" b="0" u="none" strike="noStrike" spc="-65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1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аппаратную</a:t>
            </a:r>
            <a:r>
              <a:rPr lang="ru-RU" sz="2000" b="0" u="none" strike="noStrike" spc="-65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часть</a:t>
            </a:r>
            <a:r>
              <a:rPr lang="ru-RU" sz="2000" b="0" u="none" strike="noStrike" spc="-65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5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с </a:t>
            </a:r>
            <a:r>
              <a:rPr lang="ru-RU" sz="2000" b="0" u="none" strike="noStrike" spc="-1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использованием</a:t>
            </a:r>
            <a:r>
              <a:rPr lang="ru-RU" sz="2000" b="0" u="none" strike="noStrike" spc="-45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1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ESP8266, </a:t>
            </a:r>
            <a:r>
              <a:rPr lang="ru-RU" sz="2000" b="0" u="none" strike="noStrike" spc="-20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фотодиодов,</a:t>
            </a:r>
            <a:r>
              <a:rPr lang="ru-RU" sz="2000" b="0" u="none" strike="noStrike" spc="-34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20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светодиодов</a:t>
            </a:r>
            <a:r>
              <a:rPr lang="ru-RU" sz="2000" b="0" u="none" strike="noStrike" spc="-34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5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и </a:t>
            </a:r>
            <a:r>
              <a:rPr lang="ru-RU" sz="2000" b="0" u="none" strike="noStrike" spc="-1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сервопривода</a:t>
            </a:r>
            <a:r>
              <a:rPr lang="ru-RU" sz="2000" b="0" u="none" strike="noStrike" spc="-3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для</a:t>
            </a:r>
            <a:r>
              <a:rPr lang="ru-RU" sz="2000" b="0" u="none" strike="noStrike" spc="-3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1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точного 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подсчёта</a:t>
            </a:r>
            <a:r>
              <a:rPr lang="ru-RU" sz="2000" b="0" u="none" strike="noStrike" spc="-125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1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монет.</a:t>
            </a:r>
            <a:endParaRPr lang="ru-RU" sz="20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object 5"/>
          <p:cNvSpPr/>
          <p:nvPr/>
        </p:nvSpPr>
        <p:spPr>
          <a:xfrm>
            <a:off x="4765704" y="2992624"/>
            <a:ext cx="4043470" cy="155124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12240" rIns="0" bIns="0" anchor="t">
            <a:spAutoFit/>
          </a:bodyPr>
          <a:lstStyle/>
          <a:p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Обеспечить</a:t>
            </a:r>
            <a:r>
              <a:rPr lang="ru-RU" sz="2000" b="0" u="none" strike="noStrike" spc="-74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безопасность</a:t>
            </a:r>
            <a:r>
              <a:rPr lang="ru-RU" sz="2000" b="0" u="none" strike="noStrike" spc="-74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1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доступа 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и</a:t>
            </a:r>
            <a:r>
              <a:rPr lang="ru-RU" sz="2000" b="0" u="none" strike="noStrike" spc="-40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1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передачу</a:t>
            </a:r>
            <a:r>
              <a:rPr lang="ru-RU" sz="2000" b="0" u="none" strike="noStrike" spc="-40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данных,</a:t>
            </a:r>
            <a:r>
              <a:rPr lang="ru-RU" sz="2000" b="0" u="none" strike="noStrike" spc="-40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а</a:t>
            </a:r>
            <a:r>
              <a:rPr lang="ru-RU" sz="2000" b="0" u="none" strike="noStrike" spc="-34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20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также 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своевременное</a:t>
            </a:r>
            <a:r>
              <a:rPr lang="ru-RU" sz="2000" b="0" u="none" strike="noStrike" spc="-60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1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информирование пользователя</a:t>
            </a:r>
            <a:r>
              <a:rPr lang="ru-RU" sz="2000" b="0" u="none" strike="noStrike" spc="-54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о</a:t>
            </a:r>
            <a:r>
              <a:rPr lang="ru-RU" sz="2000" b="0" u="none" strike="noStrike" spc="-54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1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каждом</a:t>
            </a:r>
            <a:r>
              <a:rPr lang="ru-RU" sz="2000" b="0" u="none" strike="noStrike" spc="-54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1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действии.</a:t>
            </a:r>
            <a:endParaRPr lang="ru-RU" sz="20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object 6"/>
          <p:cNvSpPr/>
          <p:nvPr/>
        </p:nvSpPr>
        <p:spPr>
          <a:xfrm>
            <a:off x="405720" y="259920"/>
            <a:ext cx="5164656" cy="32122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1332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ru-RU" sz="2000" b="1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Цели</a:t>
            </a:r>
            <a:r>
              <a:rPr lang="ru-RU" sz="2000" b="1" u="none" strike="noStrike" spc="-54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1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и</a:t>
            </a:r>
            <a:r>
              <a:rPr lang="ru-RU" sz="2000" b="1" u="none" strike="noStrike" spc="-54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1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задачи</a:t>
            </a:r>
            <a:r>
              <a:rPr lang="ru-RU" sz="2000" b="1" u="none" strike="noStrike" spc="-54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1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проекта</a:t>
            </a:r>
            <a:r>
              <a:rPr lang="ru-RU" sz="2000" b="1" u="none" strike="noStrike" spc="-5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1" u="none" strike="noStrike" spc="-26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«Умная</a:t>
            </a:r>
            <a:r>
              <a:rPr lang="ru-RU" sz="2000" b="1" u="none" strike="noStrike" spc="-5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1" u="none" strike="noStrike" spc="-1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копилка»</a:t>
            </a:r>
            <a:endParaRPr lang="ru-RU" sz="20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4" name="object 7"/>
          <p:cNvSpPr/>
          <p:nvPr/>
        </p:nvSpPr>
        <p:spPr>
          <a:xfrm>
            <a:off x="720" y="720"/>
            <a:ext cx="9141840" cy="5141520"/>
          </a:xfrm>
          <a:custGeom>
            <a:avLst/>
            <a:gdLst>
              <a:gd name="textAreaLeft" fmla="*/ 0 w 9141840"/>
              <a:gd name="textAreaRight" fmla="*/ 9142560 w 9141840"/>
              <a:gd name="textAreaTop" fmla="*/ 0 h 5141520"/>
              <a:gd name="textAreaBottom" fmla="*/ 5142240 h 5141520"/>
            </a:gdLst>
            <a:ahLst/>
            <a:cxnLst/>
            <a:rect l="textAreaLeft" t="textAreaTop" r="textAreaRight" b="textAreaBottom"/>
            <a:pathLst>
              <a:path w="9142730" h="5142230">
                <a:moveTo>
                  <a:pt x="0" y="0"/>
                </a:moveTo>
                <a:lnTo>
                  <a:pt x="9142476" y="0"/>
                </a:lnTo>
                <a:lnTo>
                  <a:pt x="9142476" y="5141976"/>
                </a:lnTo>
                <a:lnTo>
                  <a:pt x="0" y="5141976"/>
                </a:lnTo>
                <a:lnTo>
                  <a:pt x="0" y="0"/>
                </a:lnTo>
                <a:close/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1"/>
          <p:cNvSpPr>
            <a:spLocks noGrp="1"/>
          </p:cNvSpPr>
          <p:nvPr>
            <p:ph type="sldNum" idx="21"/>
          </p:nvPr>
        </p:nvSpPr>
        <p:spPr>
          <a:xfrm>
            <a:off x="8816400" y="4785480"/>
            <a:ext cx="229320" cy="313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44280" indent="0">
              <a:lnSpc>
                <a:spcPts val="2290"/>
              </a:lnSpc>
              <a:buNone/>
              <a:tabLst>
                <a:tab pos="0" algn="l"/>
              </a:tabLst>
              <a:defRPr lang="ru-RU" sz="2000" b="0" u="none" strike="noStrike" spc="-51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marL="44280" indent="0">
              <a:lnSpc>
                <a:spcPts val="2290"/>
              </a:lnSpc>
              <a:buNone/>
              <a:tabLst>
                <a:tab pos="0" algn="l"/>
              </a:tabLst>
            </a:pPr>
            <a:fld id="{96EF3796-46EE-442C-922C-22057CBA7F65}" type="slidenum">
              <a:rPr lang="ru-RU" sz="2000" b="0" u="none" strike="noStrike" spc="-51">
                <a:solidFill>
                  <a:schemeClr val="dk1"/>
                </a:solidFill>
                <a:effectLst/>
                <a:uFillTx/>
                <a:latin typeface="Times New Roman"/>
              </a:rPr>
              <a:t>7</a:t>
            </a:fld>
            <a:endParaRPr lang="ru-RU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7CB7D274-5C36-EAA2-2CF2-EB4DB044F28F}"/>
              </a:ext>
            </a:extLst>
          </p:cNvPr>
          <p:cNvSpPr/>
          <p:nvPr/>
        </p:nvSpPr>
        <p:spPr>
          <a:xfrm>
            <a:off x="547200" y="1132522"/>
            <a:ext cx="4024799" cy="155160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12600" rIns="0" bIns="0" anchor="t">
            <a:spAutoFit/>
          </a:bodyPr>
          <a:lstStyle/>
          <a:p>
            <a:pPr marL="12600"/>
            <a:r>
              <a:rPr lang="ru-RU" sz="2000" spc="-1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Создать</a:t>
            </a:r>
            <a:r>
              <a:rPr lang="ru-RU" sz="2000" spc="-5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spc="-2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удобный</a:t>
            </a:r>
            <a:r>
              <a:rPr lang="en-US" sz="2000" spc="-5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инструмент</a:t>
            </a:r>
            <a:r>
              <a:rPr lang="ru-RU" sz="2000" spc="-7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</a:t>
            </a:r>
            <a:r>
              <a:rPr lang="ru-RU" sz="2000" spc="-7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spc="-1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контроля </a:t>
            </a:r>
            <a:r>
              <a:rPr lang="ru-RU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наличных</a:t>
            </a:r>
            <a:r>
              <a:rPr lang="ru-RU" sz="2000" spc="-9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spc="-1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накоплений</a:t>
            </a:r>
            <a:r>
              <a:rPr lang="ru-RU" sz="2000" spc="-85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spc="-5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 </a:t>
            </a:r>
            <a:r>
              <a:rPr lang="ru-RU" sz="2000" spc="-1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автоматическим</a:t>
            </a:r>
            <a:r>
              <a:rPr lang="ru-RU" sz="2000" spc="-99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учетом</a:t>
            </a:r>
            <a:r>
              <a:rPr lang="ru-RU" sz="2000" spc="-96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spc="-1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через </a:t>
            </a:r>
            <a:r>
              <a:rPr lang="ru-RU" sz="2000" spc="-26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аппаратно-</a:t>
            </a:r>
            <a:r>
              <a:rPr lang="ru-RU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программное</a:t>
            </a:r>
            <a:r>
              <a:rPr lang="ru-RU" sz="2000" spc="4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spc="-1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решение.</a:t>
            </a:r>
            <a:endParaRPr lang="ru-RU" sz="2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BF32979-A870-E9C8-C55A-3B747AB99773}"/>
              </a:ext>
            </a:extLst>
          </p:cNvPr>
          <p:cNvSpPr/>
          <p:nvPr/>
        </p:nvSpPr>
        <p:spPr>
          <a:xfrm>
            <a:off x="636480" y="2992624"/>
            <a:ext cx="3795838" cy="155160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12600" rIns="0" bIns="0" anchor="t">
            <a:spAutoFit/>
          </a:bodyPr>
          <a:lstStyle/>
          <a:p>
            <a:pPr marL="12600"/>
            <a:r>
              <a:rPr lang="ru-RU" sz="2000" spc="-1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Создать</a:t>
            </a:r>
            <a:r>
              <a:rPr lang="ru-RU" sz="2000" spc="-7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spc="-1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функциональный </a:t>
            </a:r>
            <a:r>
              <a:rPr lang="ru-RU" sz="2000" spc="-26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Telegram</a:t>
            </a:r>
            <a:r>
              <a:rPr lang="ru-RU" sz="2000" spc="-26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ru-RU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бот</a:t>
            </a:r>
            <a:r>
              <a:rPr lang="ru-RU" sz="2000" spc="-34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с</a:t>
            </a:r>
            <a:r>
              <a:rPr lang="ru-RU" sz="2000" spc="-3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spc="-1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веб-</a:t>
            </a:r>
            <a:r>
              <a:rPr lang="ru-RU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интерфейсом</a:t>
            </a:r>
            <a:r>
              <a:rPr lang="ru-RU" sz="2000" spc="-26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для </a:t>
            </a:r>
            <a:r>
              <a:rPr lang="ru-RU" sz="2000" spc="-1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отображения</a:t>
            </a:r>
            <a:r>
              <a:rPr lang="ru-RU" sz="2000" spc="-4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баланса,</a:t>
            </a:r>
            <a:r>
              <a:rPr lang="ru-RU" sz="2000" spc="-34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spc="-1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истории </a:t>
            </a:r>
            <a:r>
              <a:rPr lang="ru-RU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операций</a:t>
            </a:r>
            <a:r>
              <a:rPr lang="ru-RU" sz="2000" spc="-45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</a:t>
            </a:r>
            <a:r>
              <a:rPr lang="ru-RU" sz="2000" spc="-45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spc="-1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управления копилки.</a:t>
            </a:r>
            <a:endParaRPr lang="ru-RU" sz="2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object 2"/>
          <p:cNvGrpSpPr>
            <a:grpSpLocks noGrp="1" noUngrp="1" noRot="1" noMove="1" noResize="1"/>
          </p:cNvGrpSpPr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pic>
          <p:nvPicPr>
            <p:cNvPr id="87" name="object 3"/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2"/>
            <a:stretch/>
          </p:blipFill>
          <p:spPr>
            <a:xfrm>
              <a:off x="0" y="0"/>
              <a:ext cx="9143280" cy="51429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88" name="object 4"/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3"/>
            <a:stretch/>
          </p:blipFill>
          <p:spPr>
            <a:xfrm>
              <a:off x="519840" y="1464480"/>
              <a:ext cx="217080" cy="2170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89" name="object 5"/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4"/>
            <a:stretch/>
          </p:blipFill>
          <p:spPr>
            <a:xfrm>
              <a:off x="0" y="0"/>
              <a:ext cx="9143280" cy="51429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0" name="object 6"/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5"/>
            <a:stretch/>
          </p:blipFill>
          <p:spPr>
            <a:xfrm>
              <a:off x="5015520" y="1461600"/>
              <a:ext cx="168480" cy="2250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1" name="object 7"/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6"/>
            <a:stretch/>
          </p:blipFill>
          <p:spPr>
            <a:xfrm>
              <a:off x="0" y="0"/>
              <a:ext cx="9143280" cy="51429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2" name="object 8"/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7"/>
            <a:stretch/>
          </p:blipFill>
          <p:spPr>
            <a:xfrm>
              <a:off x="4991040" y="3357360"/>
              <a:ext cx="217080" cy="1746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3" name="object 9"/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8"/>
            <a:stretch/>
          </p:blipFill>
          <p:spPr>
            <a:xfrm>
              <a:off x="0" y="0"/>
              <a:ext cx="9143280" cy="51429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4" name="object 10"/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9"/>
            <a:stretch/>
          </p:blipFill>
          <p:spPr>
            <a:xfrm>
              <a:off x="519840" y="3357360"/>
              <a:ext cx="217080" cy="17460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325080" y="161640"/>
            <a:ext cx="7806960" cy="504075"/>
          </a:xfrm>
          <a:prstGeom prst="rect">
            <a:avLst/>
          </a:prstGeom>
          <a:noFill/>
          <a:ln w="0">
            <a:noFill/>
          </a:ln>
        </p:spPr>
        <p:txBody>
          <a:bodyPr lIns="0" tIns="194400" rIns="0" bIns="0" anchor="t">
            <a:spAutoFit/>
          </a:bodyPr>
          <a:lstStyle/>
          <a:p>
            <a:pPr marL="12600" indent="0">
              <a:lnSpc>
                <a:spcPct val="100000"/>
              </a:lnSpc>
              <a:spcBef>
                <a:spcPts val="105"/>
              </a:spcBef>
              <a:buNone/>
              <a:tabLst>
                <a:tab pos="0" algn="l"/>
              </a:tabLst>
            </a:pPr>
            <a:r>
              <a:rPr lang="ru-RU" sz="2000" b="1" u="none" strike="noStrike" spc="-11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Методы</a:t>
            </a:r>
            <a:r>
              <a:rPr lang="ru-RU" sz="2000" b="1" u="none" strike="noStrike" spc="-60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1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и</a:t>
            </a:r>
            <a:r>
              <a:rPr lang="ru-RU" sz="2000" b="1" u="none" strike="noStrike" spc="-60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1" u="none" strike="noStrike" spc="-20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используемые</a:t>
            </a:r>
            <a:r>
              <a:rPr lang="ru-RU" sz="2000" b="1" u="none" strike="noStrike" spc="-65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1" u="none" strike="noStrike" spc="-11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материалы</a:t>
            </a:r>
            <a:endParaRPr lang="ru-RU" sz="20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6" name="object 12"/>
          <p:cNvSpPr/>
          <p:nvPr/>
        </p:nvSpPr>
        <p:spPr>
          <a:xfrm>
            <a:off x="8841960" y="4765320"/>
            <a:ext cx="167040" cy="33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332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ru-RU" sz="2000" b="0" u="none" strike="noStrike" spc="-51">
                <a:solidFill>
                  <a:srgbClr val="000000"/>
                </a:solidFill>
                <a:effectLst/>
                <a:uFillTx/>
                <a:latin typeface="Microsoft Sans Serif"/>
              </a:rPr>
              <a:t>8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object 15"/>
          <p:cNvSpPr/>
          <p:nvPr/>
        </p:nvSpPr>
        <p:spPr>
          <a:xfrm>
            <a:off x="720" y="720"/>
            <a:ext cx="9141840" cy="5141520"/>
          </a:xfrm>
          <a:custGeom>
            <a:avLst/>
            <a:gdLst>
              <a:gd name="textAreaLeft" fmla="*/ 0 w 9141840"/>
              <a:gd name="textAreaRight" fmla="*/ 9142560 w 9141840"/>
              <a:gd name="textAreaTop" fmla="*/ 0 h 5141520"/>
              <a:gd name="textAreaBottom" fmla="*/ 5142240 h 5141520"/>
            </a:gdLst>
            <a:ahLst/>
            <a:cxnLst/>
            <a:rect l="textAreaLeft" t="textAreaTop" r="textAreaRight" b="textAreaBottom"/>
            <a:pathLst>
              <a:path w="9142730" h="5142230">
                <a:moveTo>
                  <a:pt x="0" y="0"/>
                </a:moveTo>
                <a:lnTo>
                  <a:pt x="9142476" y="0"/>
                </a:lnTo>
                <a:lnTo>
                  <a:pt x="9142476" y="5141976"/>
                </a:lnTo>
                <a:lnTo>
                  <a:pt x="0" y="5141976"/>
                </a:lnTo>
                <a:lnTo>
                  <a:pt x="0" y="0"/>
                </a:lnTo>
                <a:close/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object 14">
            <a:extLst>
              <a:ext uri="{FF2B5EF4-FFF2-40B4-BE49-F238E27FC236}">
                <a16:creationId xmlns:a16="http://schemas.microsoft.com/office/drawing/2014/main" id="{8E9B00CB-6566-F8C1-7EAE-F89F67C3FF19}"/>
              </a:ext>
            </a:extLst>
          </p:cNvPr>
          <p:cNvSpPr/>
          <p:nvPr/>
        </p:nvSpPr>
        <p:spPr>
          <a:xfrm>
            <a:off x="325080" y="1399481"/>
            <a:ext cx="3873960" cy="38665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8120" rIns="0" bIns="0" anchor="t">
            <a:spAutoFit/>
          </a:bodyPr>
          <a:lstStyle/>
          <a:p>
            <a:pPr marL="621000">
              <a:lnSpc>
                <a:spcPct val="100000"/>
              </a:lnSpc>
              <a:spcBef>
                <a:spcPts val="615"/>
              </a:spcBef>
            </a:pPr>
            <a:r>
              <a:rPr lang="ru-RU" sz="2000" b="0" u="none" strike="noStrike" spc="-1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Аппаратная</a:t>
            </a:r>
            <a:r>
              <a:rPr lang="ru-RU" sz="2000" b="0" u="none" strike="noStrike" spc="-96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1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платформа</a:t>
            </a:r>
            <a:endParaRPr lang="ru-RU" sz="20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object 14">
            <a:extLst>
              <a:ext uri="{FF2B5EF4-FFF2-40B4-BE49-F238E27FC236}">
                <a16:creationId xmlns:a16="http://schemas.microsoft.com/office/drawing/2014/main" id="{02565B46-55D7-8880-D176-6AC0823CE3A1}"/>
              </a:ext>
            </a:extLst>
          </p:cNvPr>
          <p:cNvSpPr/>
          <p:nvPr/>
        </p:nvSpPr>
        <p:spPr>
          <a:xfrm>
            <a:off x="428760" y="1806536"/>
            <a:ext cx="3873960" cy="130998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812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519"/>
              </a:spcBef>
            </a:pPr>
            <a:r>
              <a:rPr lang="ru-RU" sz="2000" b="0" u="none" strike="noStrike" spc="-26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Используется 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для</a:t>
            </a:r>
            <a:r>
              <a:rPr lang="ru-RU" sz="2000" b="0" u="none" strike="noStrike" spc="-26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1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контроля 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сенсоров</a:t>
            </a:r>
            <a:r>
              <a:rPr lang="ru-RU" sz="2000" b="0" u="none" strike="noStrike" spc="-3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и</a:t>
            </a:r>
            <a:r>
              <a:rPr lang="ru-RU" sz="2000" b="0" u="none" strike="noStrike" spc="-34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связи</a:t>
            </a:r>
            <a:r>
              <a:rPr lang="ru-RU" sz="2000" b="0" u="none" strike="noStrike" spc="-3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с</a:t>
            </a:r>
            <a:r>
              <a:rPr lang="ru-RU" sz="2000" b="0" u="none" strike="noStrike" spc="-3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1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сервером </a:t>
            </a:r>
            <a:r>
              <a:rPr lang="ru-RU" sz="2000" b="0" u="none" strike="noStrike" spc="-20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через</a:t>
            </a:r>
            <a:r>
              <a:rPr lang="ru-RU" sz="2000" b="0" u="none" strike="noStrike" spc="-45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11" dirty="0" err="1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Wi</a:t>
            </a:r>
            <a:r>
              <a:rPr lang="ru-RU" sz="2000" b="0" u="none" strike="noStrike" spc="-1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Fi</a:t>
            </a:r>
            <a:r>
              <a:rPr lang="ru-RU" sz="2000" b="0" u="none" strike="noStrike" spc="-34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в</a:t>
            </a:r>
            <a:r>
              <a:rPr lang="ru-RU" sz="2000" b="0" u="none" strike="noStrike" spc="-34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реальном</a:t>
            </a:r>
            <a:r>
              <a:rPr lang="ru-RU" sz="2000" b="0" u="none" strike="noStrike" spc="-34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1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времени 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и</a:t>
            </a:r>
            <a:r>
              <a:rPr lang="ru-RU" sz="2000" b="0" u="none" strike="noStrike" spc="-3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с</a:t>
            </a:r>
            <a:r>
              <a:rPr lang="ru-RU" sz="2000" b="0" u="none" strike="noStrike" spc="-26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высокой</a:t>
            </a:r>
            <a:r>
              <a:rPr lang="ru-RU" sz="2000" b="0" u="none" strike="noStrike" spc="-26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1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надежностью.</a:t>
            </a:r>
            <a:endParaRPr lang="ru-RU" sz="20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object 14">
            <a:extLst>
              <a:ext uri="{FF2B5EF4-FFF2-40B4-BE49-F238E27FC236}">
                <a16:creationId xmlns:a16="http://schemas.microsoft.com/office/drawing/2014/main" id="{7B8A7ADE-CB0F-7D97-1228-08E9BA53823B}"/>
              </a:ext>
            </a:extLst>
          </p:cNvPr>
          <p:cNvSpPr/>
          <p:nvPr/>
        </p:nvSpPr>
        <p:spPr>
          <a:xfrm>
            <a:off x="412201" y="3266719"/>
            <a:ext cx="3873960" cy="35588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8120" rIns="0" bIns="0" anchor="t">
            <a:spAutoFit/>
          </a:bodyPr>
          <a:lstStyle/>
          <a:p>
            <a:pPr marL="76680" indent="633240">
              <a:lnSpc>
                <a:spcPct val="90000"/>
              </a:lnSpc>
              <a:tabLst>
                <a:tab pos="0" algn="l"/>
              </a:tabLst>
            </a:pPr>
            <a:r>
              <a:rPr lang="ru-RU" sz="2000" b="0" u="none" strike="noStrike" spc="-1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Сервопривод</a:t>
            </a:r>
            <a:endParaRPr lang="ru-RU" sz="20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CAD1A9E8-BF1B-5BC8-4DD2-94F4B7B01069}"/>
              </a:ext>
            </a:extLst>
          </p:cNvPr>
          <p:cNvSpPr/>
          <p:nvPr/>
        </p:nvSpPr>
        <p:spPr>
          <a:xfrm>
            <a:off x="428760" y="3713242"/>
            <a:ext cx="3873960" cy="9406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78120" rIns="0" bIns="0" anchor="t">
            <a:spAutoFit/>
          </a:bodyPr>
          <a:lstStyle/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ru-RU" sz="2000" b="0" u="none" strike="noStrike" spc="-20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Отвечает</a:t>
            </a:r>
            <a:r>
              <a:rPr lang="ru-RU" sz="2000" b="0" u="none" strike="noStrike" spc="-60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26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за </a:t>
            </a:r>
            <a:r>
              <a:rPr lang="ru-RU" sz="2000" b="0" u="none" strike="noStrike" spc="-40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блокировку/разблокировку</a:t>
            </a:r>
            <a:endParaRPr lang="ru-RU" sz="20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sz="2000" b="0" u="none" strike="noStrike" spc="-26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крышки</a:t>
            </a:r>
            <a:r>
              <a:rPr lang="en-US" sz="2000" spc="-26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sz="20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AA09B6DD-0384-8D62-98AA-D2172920F65C}"/>
              </a:ext>
            </a:extLst>
          </p:cNvPr>
          <p:cNvSpPr/>
          <p:nvPr/>
        </p:nvSpPr>
        <p:spPr>
          <a:xfrm>
            <a:off x="4805291" y="1379690"/>
            <a:ext cx="3873960" cy="38665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8120" rIns="0" bIns="0" anchor="t">
            <a:spAutoFit/>
          </a:bodyPr>
          <a:lstStyle/>
          <a:p>
            <a:pPr marL="621000">
              <a:lnSpc>
                <a:spcPct val="100000"/>
              </a:lnSpc>
              <a:spcBef>
                <a:spcPts val="615"/>
              </a:spcBef>
            </a:pPr>
            <a:r>
              <a:rPr lang="ru-RU" sz="2000" b="0" u="none" strike="noStrike" spc="-34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ИК</a:t>
            </a:r>
            <a:r>
              <a:rPr lang="ru-RU" sz="2000" spc="-34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-фотодиод и светодиод</a:t>
            </a:r>
            <a:endParaRPr lang="ru-RU" sz="20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object 14">
            <a:extLst>
              <a:ext uri="{FF2B5EF4-FFF2-40B4-BE49-F238E27FC236}">
                <a16:creationId xmlns:a16="http://schemas.microsoft.com/office/drawing/2014/main" id="{328BAC0B-5DEC-EC73-8012-4E4E7D223B62}"/>
              </a:ext>
            </a:extLst>
          </p:cNvPr>
          <p:cNvSpPr/>
          <p:nvPr/>
        </p:nvSpPr>
        <p:spPr>
          <a:xfrm>
            <a:off x="4968000" y="1806536"/>
            <a:ext cx="3873960" cy="130998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8120" rIns="0" bIns="0" anchor="t">
            <a:spAutoFit/>
          </a:bodyPr>
          <a:lstStyle/>
          <a:p>
            <a:pPr>
              <a:tabLst>
                <a:tab pos="0" algn="l"/>
              </a:tabLst>
            </a:pPr>
            <a:r>
              <a:rPr lang="ru-RU" sz="2000" spc="-2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Обеспечивают</a:t>
            </a:r>
            <a:r>
              <a:rPr lang="ru-RU" sz="2000" spc="-3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spc="-1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точное</a:t>
            </a:r>
            <a:endParaRPr lang="ru-RU" sz="2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tabLst>
                <a:tab pos="0" algn="l"/>
              </a:tabLst>
            </a:pPr>
            <a:r>
              <a:rPr lang="ru-RU" sz="2000" spc="-2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распознавание</a:t>
            </a:r>
            <a:r>
              <a:rPr lang="ru-RU" sz="2000" spc="-45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spc="-2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каждой</a:t>
            </a:r>
            <a:r>
              <a:rPr lang="ru-RU" sz="2000" spc="-4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spc="-1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монеты </a:t>
            </a:r>
            <a:r>
              <a:rPr lang="ru-RU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</a:t>
            </a:r>
            <a:r>
              <a:rPr lang="ru-RU" sz="2000" spc="-54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попадании</a:t>
            </a:r>
            <a:r>
              <a:rPr lang="ru-RU" sz="2000" spc="-54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</a:t>
            </a:r>
            <a:r>
              <a:rPr lang="ru-RU" sz="2000" spc="-45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spc="-26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копилку</a:t>
            </a:r>
            <a:r>
              <a:rPr lang="ru-RU" sz="2000" spc="-5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lang="ru-RU" sz="2000" spc="-1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передают</a:t>
            </a:r>
            <a:r>
              <a:rPr lang="ru-RU" sz="2000" spc="-65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сигнал</a:t>
            </a:r>
            <a:r>
              <a:rPr lang="ru-RU" sz="2000" spc="-5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spc="-1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контроллеру.</a:t>
            </a:r>
            <a:endParaRPr lang="ru-RU" sz="2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object 14">
            <a:extLst>
              <a:ext uri="{FF2B5EF4-FFF2-40B4-BE49-F238E27FC236}">
                <a16:creationId xmlns:a16="http://schemas.microsoft.com/office/drawing/2014/main" id="{0CC1275A-6CBA-2AF2-5EEB-73BD5F4DDB3C}"/>
              </a:ext>
            </a:extLst>
          </p:cNvPr>
          <p:cNvSpPr/>
          <p:nvPr/>
        </p:nvSpPr>
        <p:spPr>
          <a:xfrm>
            <a:off x="4804571" y="3245025"/>
            <a:ext cx="3873960" cy="38665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8120" rIns="0" bIns="0" anchor="t">
            <a:spAutoFit/>
          </a:bodyPr>
          <a:lstStyle/>
          <a:p>
            <a:pPr marL="621000">
              <a:lnSpc>
                <a:spcPct val="100000"/>
              </a:lnSpc>
              <a:spcBef>
                <a:spcPts val="615"/>
              </a:spcBef>
            </a:pPr>
            <a:r>
              <a:rPr lang="ru-RU" sz="2000" spc="-1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Программные</a:t>
            </a:r>
            <a:r>
              <a:rPr lang="ru-RU" sz="2000" spc="-125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spc="-1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технологии</a:t>
            </a:r>
            <a:endParaRPr lang="ru-RU" sz="20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object 14">
            <a:extLst>
              <a:ext uri="{FF2B5EF4-FFF2-40B4-BE49-F238E27FC236}">
                <a16:creationId xmlns:a16="http://schemas.microsoft.com/office/drawing/2014/main" id="{B521B6A6-8007-9A21-E8F9-904B490ADD31}"/>
              </a:ext>
            </a:extLst>
          </p:cNvPr>
          <p:cNvSpPr/>
          <p:nvPr/>
        </p:nvSpPr>
        <p:spPr>
          <a:xfrm>
            <a:off x="4967280" y="3671871"/>
            <a:ext cx="3873960" cy="130998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8120" rIns="0" bIns="0" anchor="t">
            <a:spAutoFit/>
          </a:bodyPr>
          <a:lstStyle/>
          <a:p>
            <a:pPr>
              <a:tabLst>
                <a:tab pos="0" algn="l"/>
              </a:tabLst>
            </a:pPr>
            <a:r>
              <a:rPr lang="ru-RU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HTML,</a:t>
            </a:r>
            <a:r>
              <a:rPr lang="ru-RU" sz="2000" spc="-26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CSS,</a:t>
            </a:r>
            <a:r>
              <a:rPr lang="ru-RU" sz="2000" spc="-26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JavaScript</a:t>
            </a:r>
            <a:r>
              <a:rPr lang="ru-RU" sz="2000" spc="-26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</a:t>
            </a:r>
            <a:r>
              <a:rPr lang="ru-RU" sz="2000" spc="-3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spc="-1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MQTT-</a:t>
            </a:r>
            <a:endParaRPr lang="ru-RU" sz="2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tabLst>
                <a:tab pos="0" algn="l"/>
              </a:tabLst>
            </a:pPr>
            <a:r>
              <a:rPr lang="ru-RU" sz="2000" spc="-26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протокол</a:t>
            </a:r>
            <a:r>
              <a:rPr lang="ru-RU" sz="2000" spc="-85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spc="-1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интегрируются</a:t>
            </a:r>
            <a:r>
              <a:rPr lang="ru-RU" sz="2000" spc="-85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spc="-5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 </a:t>
            </a:r>
            <a:r>
              <a:rPr lang="ru-RU" sz="2000" spc="-4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Telegram</a:t>
            </a:r>
            <a:r>
              <a:rPr lang="ru-RU" sz="2000" spc="-99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spc="-99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 </a:t>
            </a:r>
            <a:r>
              <a:rPr lang="ru-RU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</a:t>
            </a:r>
            <a:r>
              <a:rPr lang="ru-RU" sz="2000" spc="14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spc="-1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удобного </a:t>
            </a:r>
            <a:r>
              <a:rPr lang="ru-RU" sz="2000" spc="-2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взаимодействия</a:t>
            </a:r>
            <a:r>
              <a:rPr lang="ru-RU" sz="2000" spc="-1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spc="-26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пользователя</a:t>
            </a:r>
            <a:endParaRPr lang="ru-RU" sz="2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object 2"/>
          <p:cNvGrpSpPr/>
          <p:nvPr/>
        </p:nvGrpSpPr>
        <p:grpSpPr>
          <a:xfrm>
            <a:off x="0" y="32399"/>
            <a:ext cx="9143280" cy="5142960"/>
            <a:chOff x="0" y="0"/>
            <a:chExt cx="9143280" cy="5142960"/>
          </a:xfrm>
        </p:grpSpPr>
        <p:pic>
          <p:nvPicPr>
            <p:cNvPr id="101" name="object 3"/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2"/>
            <a:stretch/>
          </p:blipFill>
          <p:spPr>
            <a:xfrm>
              <a:off x="0" y="0"/>
              <a:ext cx="9143280" cy="51429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02" name="object 4"/>
            <p:cNvPicPr/>
            <p:nvPr/>
          </p:nvPicPr>
          <p:blipFill>
            <a:blip r:embed="rId3"/>
            <a:stretch/>
          </p:blipFill>
          <p:spPr>
            <a:xfrm>
              <a:off x="419040" y="977040"/>
              <a:ext cx="2699640" cy="22608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03" name="object 5"/>
            <p:cNvPicPr/>
            <p:nvPr/>
          </p:nvPicPr>
          <p:blipFill>
            <a:blip r:embed="rId4"/>
            <a:stretch/>
          </p:blipFill>
          <p:spPr>
            <a:xfrm>
              <a:off x="3198960" y="977040"/>
              <a:ext cx="2699640" cy="22608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04" name="object 6"/>
            <p:cNvPicPr/>
            <p:nvPr/>
          </p:nvPicPr>
          <p:blipFill>
            <a:blip r:embed="rId5"/>
            <a:stretch/>
          </p:blipFill>
          <p:spPr>
            <a:xfrm>
              <a:off x="5980320" y="977040"/>
              <a:ext cx="2699640" cy="226080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05" name="object 7"/>
          <p:cNvSpPr/>
          <p:nvPr/>
        </p:nvSpPr>
        <p:spPr>
          <a:xfrm>
            <a:off x="8848800" y="4762800"/>
            <a:ext cx="152280" cy="33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332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ru-RU" sz="2000" b="0" u="none" strike="noStrike" spc="-51">
                <a:solidFill>
                  <a:srgbClr val="000000"/>
                </a:solidFill>
                <a:effectLst/>
                <a:uFillTx/>
                <a:latin typeface="Times New Roman"/>
              </a:rPr>
              <a:t>9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object 8"/>
          <p:cNvSpPr/>
          <p:nvPr/>
        </p:nvSpPr>
        <p:spPr>
          <a:xfrm>
            <a:off x="325080" y="3436489"/>
            <a:ext cx="2676600" cy="16639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3840" rIns="0" bIns="0" anchor="t">
            <a:spAutoFit/>
          </a:bodyPr>
          <a:lstStyle/>
          <a:p>
            <a:pPr marL="66600">
              <a:lnSpc>
                <a:spcPct val="100000"/>
              </a:lnSpc>
              <a:spcBef>
                <a:spcPts val="975"/>
              </a:spcBef>
            </a:pP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Монета</a:t>
            </a:r>
            <a:r>
              <a:rPr lang="ru-RU" sz="2000" b="0" u="none" strike="noStrike" spc="-54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26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проходит</a:t>
            </a:r>
            <a:r>
              <a:rPr lang="ru-RU" sz="2000" b="0" u="none" strike="noStrike" spc="-60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20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между светодиодом</a:t>
            </a:r>
            <a:r>
              <a:rPr lang="ru-RU" sz="2000" b="0" u="none" strike="noStrike" spc="-54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5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и </a:t>
            </a:r>
            <a:r>
              <a:rPr lang="ru-RU" sz="2000" b="0" u="none" strike="noStrike" spc="-26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фотодиодом, что </a:t>
            </a:r>
            <a:r>
              <a:rPr lang="ru-RU" sz="2000" b="0" u="none" strike="noStrike" spc="-20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фиксируют</a:t>
            </a:r>
            <a:r>
              <a:rPr lang="ru-RU" sz="2000" b="0" u="none" strike="noStrike" spc="-3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1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событие попадания.</a:t>
            </a:r>
            <a:endParaRPr lang="ru-RU" sz="20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325080" y="161640"/>
            <a:ext cx="7806960" cy="385932"/>
          </a:xfrm>
          <a:prstGeom prst="rect">
            <a:avLst/>
          </a:prstGeom>
          <a:noFill/>
          <a:ln w="0">
            <a:noFill/>
          </a:ln>
        </p:spPr>
        <p:txBody>
          <a:bodyPr lIns="0" tIns="77400" rIns="0" bIns="0" anchor="t">
            <a:spAutoFit/>
          </a:bodyPr>
          <a:lstStyle/>
          <a:p>
            <a:pPr marL="92880" indent="0">
              <a:lnSpc>
                <a:spcPct val="100000"/>
              </a:lnSpc>
              <a:spcBef>
                <a:spcPts val="105"/>
              </a:spcBef>
              <a:buNone/>
              <a:tabLst>
                <a:tab pos="0" algn="l"/>
              </a:tabLst>
            </a:pPr>
            <a:r>
              <a:rPr lang="ru-RU" sz="2000" b="1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Описание</a:t>
            </a:r>
            <a:r>
              <a:rPr lang="ru-RU" sz="2000" b="1" u="none" strike="noStrike" spc="-71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1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принципа</a:t>
            </a:r>
            <a:r>
              <a:rPr lang="ru-RU" sz="2000" b="1" u="none" strike="noStrike" spc="-71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1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работы</a:t>
            </a:r>
            <a:r>
              <a:rPr lang="ru-RU" sz="2000" b="1" u="none" strike="noStrike" spc="-74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1" u="none" strike="noStrike" spc="-11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системы</a:t>
            </a:r>
            <a:endParaRPr lang="ru-RU" sz="20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0" name="object 12"/>
          <p:cNvSpPr/>
          <p:nvPr/>
        </p:nvSpPr>
        <p:spPr>
          <a:xfrm>
            <a:off x="720" y="720"/>
            <a:ext cx="9141840" cy="5141520"/>
          </a:xfrm>
          <a:custGeom>
            <a:avLst/>
            <a:gdLst>
              <a:gd name="textAreaLeft" fmla="*/ 0 w 9141840"/>
              <a:gd name="textAreaRight" fmla="*/ 9142560 w 9141840"/>
              <a:gd name="textAreaTop" fmla="*/ 0 h 5141520"/>
              <a:gd name="textAreaBottom" fmla="*/ 5142240 h 5141520"/>
            </a:gdLst>
            <a:ahLst/>
            <a:cxnLst/>
            <a:rect l="textAreaLeft" t="textAreaTop" r="textAreaRight" b="textAreaBottom"/>
            <a:pathLst>
              <a:path w="9142730" h="5142230">
                <a:moveTo>
                  <a:pt x="0" y="0"/>
                </a:moveTo>
                <a:lnTo>
                  <a:pt x="9142476" y="0"/>
                </a:lnTo>
                <a:lnTo>
                  <a:pt x="9142476" y="5141976"/>
                </a:lnTo>
                <a:lnTo>
                  <a:pt x="0" y="5141976"/>
                </a:lnTo>
                <a:lnTo>
                  <a:pt x="0" y="0"/>
                </a:lnTo>
                <a:close/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B65EDD-71F6-B1DE-0B39-2728490BAFC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01" r="27256"/>
          <a:stretch>
            <a:fillRect/>
          </a:stretch>
        </p:blipFill>
        <p:spPr>
          <a:xfrm rot="5400000">
            <a:off x="639122" y="784892"/>
            <a:ext cx="2260800" cy="2699641"/>
          </a:xfrm>
          <a:prstGeom prst="rect">
            <a:avLst/>
          </a:prstGeom>
        </p:spPr>
      </p:pic>
      <p:sp>
        <p:nvSpPr>
          <p:cNvPr id="4" name="object 8">
            <a:extLst>
              <a:ext uri="{FF2B5EF4-FFF2-40B4-BE49-F238E27FC236}">
                <a16:creationId xmlns:a16="http://schemas.microsoft.com/office/drawing/2014/main" id="{F3B92498-C78D-B9E3-11F9-43710EA780F2}"/>
              </a:ext>
            </a:extLst>
          </p:cNvPr>
          <p:cNvSpPr/>
          <p:nvPr/>
        </p:nvSpPr>
        <p:spPr>
          <a:xfrm>
            <a:off x="383760" y="3120032"/>
            <a:ext cx="2676600" cy="43282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384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ru-RU" sz="2000" b="1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Фиксация</a:t>
            </a:r>
            <a:r>
              <a:rPr lang="ru-RU" sz="2000" b="1" u="none" strike="noStrike" spc="-113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1" u="none" strike="noStrike" spc="-20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монет</a:t>
            </a:r>
            <a:endParaRPr lang="ru-RU" sz="2000" b="1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603D1A00-59BD-4722-53D8-8D7B22F0601B}"/>
              </a:ext>
            </a:extLst>
          </p:cNvPr>
          <p:cNvSpPr/>
          <p:nvPr/>
        </p:nvSpPr>
        <p:spPr>
          <a:xfrm>
            <a:off x="3169976" y="3436489"/>
            <a:ext cx="2676600" cy="16639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384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24"/>
              </a:spcBef>
            </a:pPr>
            <a:r>
              <a:rPr lang="ru-RU" sz="2000" spc="-1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Сервопривод</a:t>
            </a:r>
            <a:r>
              <a:rPr lang="ru-RU" sz="2000" spc="-65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spc="-1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блокирует </a:t>
            </a:r>
            <a:r>
              <a:rPr lang="ru-RU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крышку</a:t>
            </a:r>
            <a:r>
              <a:rPr lang="ru-RU" sz="2000" spc="-96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spc="-1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копилки, способствуя сохранности накопленных</a:t>
            </a:r>
            <a:r>
              <a:rPr lang="ru-RU" sz="2000" spc="-11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spc="-1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средств.</a:t>
            </a:r>
            <a:endParaRPr lang="ru-RU" sz="2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B8E71FD4-E3BE-2E49-1C4A-8014E0ABD0B5}"/>
              </a:ext>
            </a:extLst>
          </p:cNvPr>
          <p:cNvSpPr/>
          <p:nvPr/>
        </p:nvSpPr>
        <p:spPr>
          <a:xfrm>
            <a:off x="3170880" y="3120032"/>
            <a:ext cx="2766421" cy="43282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12384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1018"/>
              </a:spcBef>
            </a:pPr>
            <a:r>
              <a:rPr lang="ru-RU" sz="2000" b="1" spc="-26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Управление</a:t>
            </a:r>
            <a:r>
              <a:rPr lang="ru-RU" sz="2000" b="1" spc="-4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1" spc="-1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доступом</a:t>
            </a:r>
            <a:endParaRPr lang="ru-RU" sz="20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DEF1AFEC-EEFD-28B4-5664-29D7CB1AA802}"/>
              </a:ext>
            </a:extLst>
          </p:cNvPr>
          <p:cNvSpPr/>
          <p:nvPr/>
        </p:nvSpPr>
        <p:spPr>
          <a:xfrm>
            <a:off x="5937301" y="3420124"/>
            <a:ext cx="2676600" cy="16639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3840" rIns="0" bIns="0" anchor="t">
            <a:spAutoFit/>
          </a:bodyPr>
          <a:lstStyle/>
          <a:p>
            <a:pPr marL="66600">
              <a:lnSpc>
                <a:spcPct val="100000"/>
              </a:lnSpc>
              <a:spcBef>
                <a:spcPts val="975"/>
              </a:spcBef>
            </a:pPr>
            <a:r>
              <a:rPr lang="ru-RU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Вся</a:t>
            </a:r>
            <a:r>
              <a:rPr lang="ru-RU" sz="2000" spc="-34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spc="-1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информация </a:t>
            </a:r>
            <a:r>
              <a:rPr lang="ru-RU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мгновенно</a:t>
            </a:r>
            <a:r>
              <a:rPr lang="ru-RU" sz="2000" spc="-79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передается</a:t>
            </a:r>
            <a:r>
              <a:rPr lang="ru-RU" sz="2000" spc="-79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spc="-26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 </a:t>
            </a:r>
            <a:r>
              <a:rPr lang="ru-RU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сервер</a:t>
            </a:r>
            <a:r>
              <a:rPr lang="ru-RU" sz="2000" spc="-45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</a:t>
            </a:r>
            <a:r>
              <a:rPr lang="ru-RU" sz="2000" spc="-45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обновляется</a:t>
            </a:r>
            <a:r>
              <a:rPr lang="ru-RU" sz="2000" spc="-4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spc="-5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</a:t>
            </a:r>
            <a:r>
              <a:rPr lang="ru-RU" sz="2000" spc="-26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Telegram</a:t>
            </a:r>
            <a:r>
              <a:rPr lang="ru-RU" sz="2000" spc="-26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ru-RU" sz="2000" spc="-2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боте</a:t>
            </a:r>
            <a:endParaRPr lang="ru-RU" sz="20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object 8">
            <a:extLst>
              <a:ext uri="{FF2B5EF4-FFF2-40B4-BE49-F238E27FC236}">
                <a16:creationId xmlns:a16="http://schemas.microsoft.com/office/drawing/2014/main" id="{75C3E92C-F8DF-94E4-CE8F-8961D1F501EF}"/>
              </a:ext>
            </a:extLst>
          </p:cNvPr>
          <p:cNvSpPr/>
          <p:nvPr/>
        </p:nvSpPr>
        <p:spPr>
          <a:xfrm>
            <a:off x="5989500" y="3149545"/>
            <a:ext cx="2859300" cy="43282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12384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30"/>
              </a:spcBef>
            </a:pPr>
            <a:r>
              <a:rPr lang="ru-RU" sz="2000" b="1" spc="-1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Обновление</a:t>
            </a:r>
            <a:r>
              <a:rPr lang="ru-RU" sz="2000" b="1" spc="26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1" spc="-2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инфор-</a:t>
            </a:r>
            <a:r>
              <a:rPr lang="ru-RU" sz="2000" b="1" spc="-26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ии</a:t>
            </a:r>
            <a:endParaRPr lang="ru-RU" sz="20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D36AEB2-E049-1554-EE48-4C28327C731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668"/>
          <a:stretch>
            <a:fillRect/>
          </a:stretch>
        </p:blipFill>
        <p:spPr>
          <a:xfrm>
            <a:off x="5988838" y="1006325"/>
            <a:ext cx="2691122" cy="22587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722EA30-37E5-5D80-D0A3-0AEA7DD385E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8240" y="1004312"/>
            <a:ext cx="2699640" cy="226592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object 2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pic>
          <p:nvPicPr>
            <p:cNvPr id="112" name="object 3"/>
            <p:cNvPicPr/>
            <p:nvPr/>
          </p:nvPicPr>
          <p:blipFill>
            <a:blip r:embed="rId2"/>
            <a:stretch/>
          </p:blipFill>
          <p:spPr>
            <a:xfrm>
              <a:off x="0" y="0"/>
              <a:ext cx="9143280" cy="51429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13" name="object 4"/>
            <p:cNvPicPr/>
            <p:nvPr/>
          </p:nvPicPr>
          <p:blipFill>
            <a:blip r:embed="rId3"/>
            <a:stretch/>
          </p:blipFill>
          <p:spPr>
            <a:xfrm>
              <a:off x="0" y="403920"/>
              <a:ext cx="9143280" cy="46598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14" name="PlaceHolder 1"/>
          <p:cNvSpPr>
            <a:spLocks noGrp="1"/>
          </p:cNvSpPr>
          <p:nvPr>
            <p:ph/>
          </p:nvPr>
        </p:nvSpPr>
        <p:spPr>
          <a:xfrm>
            <a:off x="900749" y="1517735"/>
            <a:ext cx="3575520" cy="3320958"/>
          </a:xfrm>
          <a:prstGeom prst="rect">
            <a:avLst/>
          </a:prstGeom>
          <a:noFill/>
          <a:ln w="0">
            <a:noFill/>
          </a:ln>
        </p:spPr>
        <p:txBody>
          <a:bodyPr lIns="0" tIns="12240" rIns="0" bIns="0" anchor="t">
            <a:spAutoFit/>
          </a:bodyPr>
          <a:lstStyle/>
          <a:p>
            <a:pPr indent="0">
              <a:lnSpc>
                <a:spcPct val="100000"/>
              </a:lnSpc>
              <a:spcBef>
                <a:spcPts val="1200"/>
              </a:spcBef>
              <a:buNone/>
              <a:tabLst>
                <a:tab pos="0" algn="l"/>
              </a:tabLst>
            </a:pPr>
            <a:r>
              <a:rPr lang="ru-RU" sz="2000" b="0" u="none" strike="noStrike" spc="-11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Отображение</a:t>
            </a:r>
            <a:r>
              <a:rPr lang="ru-RU" sz="2000" b="0" u="none" strike="noStrike" spc="-45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11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текущего</a:t>
            </a:r>
            <a:r>
              <a:rPr lang="ru-RU" sz="2000" b="0" u="none" strike="noStrike" spc="-51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11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баланса </a:t>
            </a:r>
            <a:r>
              <a:rPr lang="ru-RU" sz="2000" b="0" u="none" strike="noStrike" spc="-20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копилки</a:t>
            </a:r>
            <a:r>
              <a:rPr lang="ru-RU" sz="2000" b="0" u="none" strike="noStrike" spc="-71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по</a:t>
            </a:r>
            <a:r>
              <a:rPr lang="ru-RU" sz="2000" b="0" u="none" strike="noStrike" spc="-65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серийному</a:t>
            </a:r>
            <a:r>
              <a:rPr lang="ru-RU" sz="2000" b="0" u="none" strike="noStrike" spc="-65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номеру</a:t>
            </a:r>
            <a:r>
              <a:rPr lang="ru-RU" sz="2000" b="0" u="none" strike="noStrike" spc="-71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51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с </a:t>
            </a:r>
            <a:r>
              <a:rPr lang="ru-RU" sz="2000" b="0" u="none" strike="noStrike" spc="-11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возможностью</a:t>
            </a:r>
            <a:r>
              <a:rPr lang="ru-RU" sz="2000" b="0" u="none" strike="noStrike" spc="-34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11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обновления</a:t>
            </a:r>
            <a:r>
              <a:rPr lang="ru-RU" sz="2000" b="0" u="none" strike="noStrike" spc="-34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51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в </a:t>
            </a:r>
            <a:r>
              <a:rPr lang="ru-RU" sz="20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реальном</a:t>
            </a:r>
            <a:r>
              <a:rPr lang="ru-RU" sz="2000" b="0" u="none" strike="noStrike" spc="-51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11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времени.</a:t>
            </a:r>
            <a:endParaRPr lang="ru-RU" sz="20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>
              <a:lnSpc>
                <a:spcPct val="10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ru-RU" sz="2000" b="0" u="none" strike="noStrike" spc="-11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Возможность</a:t>
            </a:r>
            <a:r>
              <a:rPr lang="ru-RU" sz="2000" b="0" u="none" strike="noStrike" spc="-20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11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изменения </a:t>
            </a:r>
            <a:r>
              <a:rPr lang="ru-RU" sz="20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названия</a:t>
            </a:r>
            <a:r>
              <a:rPr lang="ru-RU" sz="2000" b="0" u="none" strike="noStrike" spc="-65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20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копилки,</a:t>
            </a:r>
            <a:r>
              <a:rPr lang="ru-RU" sz="2000" b="0" u="none" strike="noStrike" spc="-65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что</a:t>
            </a:r>
            <a:r>
              <a:rPr lang="ru-RU" sz="2000" b="0" u="none" strike="noStrike" spc="-65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11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позволяет пользователям персонализировать</a:t>
            </a:r>
            <a:r>
              <a:rPr lang="ru-RU" sz="2000" b="0" u="none" strike="noStrike" spc="-20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11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устройство </a:t>
            </a:r>
            <a:r>
              <a:rPr lang="ru-RU" sz="20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под</a:t>
            </a:r>
            <a:r>
              <a:rPr lang="ru-RU" sz="2000" b="0" u="none" strike="noStrike" spc="-71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свои</a:t>
            </a:r>
            <a:r>
              <a:rPr lang="ru-RU" sz="2000" b="0" u="none" strike="noStrike" spc="-71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11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нужды.</a:t>
            </a:r>
            <a:endParaRPr lang="ru-RU" sz="20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title"/>
          </p:nvPr>
        </p:nvSpPr>
        <p:spPr>
          <a:xfrm>
            <a:off x="325080" y="161640"/>
            <a:ext cx="7806960" cy="385932"/>
          </a:xfrm>
          <a:prstGeom prst="rect">
            <a:avLst/>
          </a:prstGeom>
          <a:noFill/>
          <a:ln w="0">
            <a:noFill/>
          </a:ln>
        </p:spPr>
        <p:txBody>
          <a:bodyPr lIns="0" tIns="77400" rIns="0" bIns="0" anchor="t">
            <a:spAutoFit/>
          </a:bodyPr>
          <a:lstStyle/>
          <a:p>
            <a:pPr marL="99000" indent="0">
              <a:lnSpc>
                <a:spcPct val="100000"/>
              </a:lnSpc>
              <a:spcBef>
                <a:spcPts val="105"/>
              </a:spcBef>
              <a:buNone/>
              <a:tabLst>
                <a:tab pos="0" algn="l"/>
              </a:tabLst>
            </a:pPr>
            <a:r>
              <a:rPr lang="ru-RU" sz="2000" b="1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Функционал</a:t>
            </a:r>
            <a:r>
              <a:rPr lang="ru-RU" sz="2000" b="1" u="none" strike="noStrike" spc="-54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1" spc="-1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</a:t>
            </a:r>
            <a:r>
              <a:rPr lang="ru-RU" sz="2000" b="1" u="none" strike="noStrike" spc="-11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еб-интерфейса</a:t>
            </a:r>
            <a:endParaRPr lang="ru-RU" sz="20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6" name="object 7"/>
          <p:cNvSpPr/>
          <p:nvPr/>
        </p:nvSpPr>
        <p:spPr>
          <a:xfrm>
            <a:off x="5212829" y="1517735"/>
            <a:ext cx="3842280" cy="34163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 anchor="t">
            <a:spAutoFit/>
          </a:bodyPr>
          <a:lstStyle/>
          <a:p>
            <a:pPr marL="13320">
              <a:lnSpc>
                <a:spcPct val="114000"/>
              </a:lnSpc>
              <a:spcBef>
                <a:spcPts val="96"/>
              </a:spcBef>
            </a:pP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Просмотр</a:t>
            </a:r>
            <a:r>
              <a:rPr lang="ru-RU" sz="2000" b="0" u="none" strike="noStrike" spc="-7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истории</a:t>
            </a:r>
            <a:r>
              <a:rPr lang="ru-RU" sz="2000" b="0" u="none" strike="noStrike" spc="-65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20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всех </a:t>
            </a:r>
            <a:r>
              <a:rPr lang="ru-RU" sz="2000" b="0" u="none" strike="noStrike" spc="-1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пополнений</a:t>
            </a:r>
            <a:r>
              <a:rPr lang="ru-RU" sz="2000" b="0" u="none" strike="noStrike" spc="-34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и</a:t>
            </a:r>
            <a:r>
              <a:rPr lang="ru-RU" sz="2000" b="0" u="none" strike="noStrike" spc="-3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трат</a:t>
            </a:r>
            <a:r>
              <a:rPr lang="ru-RU" sz="2000" b="0" u="none" strike="noStrike" spc="-34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для</a:t>
            </a:r>
            <a:r>
              <a:rPr lang="ru-RU" sz="2000" b="0" u="none" strike="noStrike" spc="-3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анализа</a:t>
            </a:r>
            <a:r>
              <a:rPr lang="ru-RU" sz="2000" b="0" u="none" strike="noStrike" spc="-3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5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и </a:t>
            </a:r>
            <a:r>
              <a:rPr lang="ru-RU" sz="2000" b="0" u="none" strike="noStrike" spc="-1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контроля</a:t>
            </a:r>
            <a:r>
              <a:rPr lang="ru-RU" sz="2000" b="0" u="none" strike="noStrike" spc="-11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финансовых</a:t>
            </a:r>
            <a:r>
              <a:rPr lang="ru-RU" sz="2000" b="0" u="none" strike="noStrike" spc="-105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1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операций пользователя.</a:t>
            </a:r>
            <a:endParaRPr lang="ru-RU" sz="20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3606"/>
              </a:spcBef>
            </a:pP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Получение</a:t>
            </a:r>
            <a:r>
              <a:rPr lang="ru-RU" sz="2000" b="0" u="none" strike="noStrike" spc="-105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1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мгновенных уведомлений</a:t>
            </a:r>
            <a:r>
              <a:rPr lang="ru-RU" sz="2000" b="0" u="none" strike="noStrike" spc="-5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о</a:t>
            </a:r>
            <a:r>
              <a:rPr lang="ru-RU" sz="2000" b="0" u="none" strike="noStrike" spc="-45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1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каждом</a:t>
            </a:r>
            <a:r>
              <a:rPr lang="ru-RU" sz="2000" b="0" u="none" strike="noStrike" spc="-45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1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событии, 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повышая</a:t>
            </a:r>
            <a:r>
              <a:rPr lang="ru-RU" sz="2000" b="0" u="none" strike="noStrike" spc="-79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осведомленность</a:t>
            </a:r>
            <a:r>
              <a:rPr lang="ru-RU" sz="2000" b="0" u="none" strike="noStrike" spc="-74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5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и </a:t>
            </a:r>
            <a:r>
              <a:rPr lang="ru-RU" sz="2000" b="0" u="none" strike="noStrike" spc="-20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стимулируя</a:t>
            </a:r>
            <a:r>
              <a:rPr lang="ru-RU" sz="2000" b="0" u="none" strike="noStrike" spc="-5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1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регулярное использование</a:t>
            </a:r>
            <a:r>
              <a:rPr lang="ru-RU" sz="2000" b="0" u="none" strike="noStrike" spc="-5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1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системы.</a:t>
            </a:r>
            <a:endParaRPr lang="en-US" sz="2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7" name="object 8"/>
          <p:cNvSpPr/>
          <p:nvPr/>
        </p:nvSpPr>
        <p:spPr>
          <a:xfrm>
            <a:off x="720" y="720"/>
            <a:ext cx="9141840" cy="5141520"/>
          </a:xfrm>
          <a:custGeom>
            <a:avLst/>
            <a:gdLst>
              <a:gd name="textAreaLeft" fmla="*/ 0 w 9141840"/>
              <a:gd name="textAreaRight" fmla="*/ 9142560 w 9141840"/>
              <a:gd name="textAreaTop" fmla="*/ 0 h 5141520"/>
              <a:gd name="textAreaBottom" fmla="*/ 5142240 h 5141520"/>
            </a:gdLst>
            <a:ahLst/>
            <a:cxnLst/>
            <a:rect l="textAreaLeft" t="textAreaTop" r="textAreaRight" b="textAreaBottom"/>
            <a:pathLst>
              <a:path w="9142730" h="5142230">
                <a:moveTo>
                  <a:pt x="0" y="0"/>
                </a:moveTo>
                <a:lnTo>
                  <a:pt x="9142476" y="0"/>
                </a:lnTo>
                <a:lnTo>
                  <a:pt x="9142476" y="5141976"/>
                </a:lnTo>
                <a:lnTo>
                  <a:pt x="0" y="5141976"/>
                </a:lnTo>
                <a:lnTo>
                  <a:pt x="0" y="0"/>
                </a:lnTo>
                <a:close/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object 2"/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tretch/>
        </p:blipFill>
        <p:spPr>
          <a:xfrm>
            <a:off x="-720" y="-72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PlaceHolder 1"/>
          <p:cNvSpPr>
            <a:spLocks noGrp="1"/>
          </p:cNvSpPr>
          <p:nvPr>
            <p:ph/>
          </p:nvPr>
        </p:nvSpPr>
        <p:spPr>
          <a:xfrm>
            <a:off x="2288834" y="1509015"/>
            <a:ext cx="5320807" cy="68515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12600" rIns="0" bIns="0" anchor="t">
            <a:spAutoFit/>
          </a:bodyPr>
          <a:lstStyle/>
          <a:p>
            <a:pPr marL="12600" indent="0">
              <a:lnSpc>
                <a:spcPct val="114000"/>
              </a:lnSpc>
              <a:spcBef>
                <a:spcPts val="600"/>
              </a:spcBef>
              <a:buNone/>
              <a:tabLst>
                <a:tab pos="0" algn="l"/>
              </a:tabLst>
            </a:pPr>
            <a:r>
              <a:rPr lang="ru-RU" sz="2000" spc="-1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Планируется доработать аппаратную часть, а именно улучшить функционал устройства</a:t>
            </a:r>
            <a:endParaRPr lang="ru-RU" sz="20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 type="title"/>
          </p:nvPr>
        </p:nvSpPr>
        <p:spPr>
          <a:xfrm>
            <a:off x="325080" y="161640"/>
            <a:ext cx="7806960" cy="557269"/>
          </a:xfrm>
          <a:prstGeom prst="rect">
            <a:avLst/>
          </a:prstGeom>
          <a:noFill/>
          <a:ln w="0">
            <a:noFill/>
          </a:ln>
        </p:spPr>
        <p:txBody>
          <a:bodyPr lIns="0" tIns="186120" rIns="0" bIns="0" anchor="t">
            <a:sp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Перспективы</a:t>
            </a:r>
            <a:r>
              <a:rPr lang="ru-RU" sz="2400" b="1" u="none" strike="noStrike" spc="-5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развития</a:t>
            </a:r>
            <a:r>
              <a:rPr lang="ru-RU" sz="2400" b="1" u="none" strike="noStrike" spc="-5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и</a:t>
            </a:r>
            <a:r>
              <a:rPr lang="ru-RU" sz="2400" b="1" u="none" strike="noStrike" spc="-4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1" u="none" strike="noStrike" spc="-1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рекомендации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6" name="object 5"/>
          <p:cNvSpPr/>
          <p:nvPr/>
        </p:nvSpPr>
        <p:spPr>
          <a:xfrm>
            <a:off x="720" y="720"/>
            <a:ext cx="9141840" cy="5141520"/>
          </a:xfrm>
          <a:custGeom>
            <a:avLst/>
            <a:gdLst>
              <a:gd name="textAreaLeft" fmla="*/ 0 w 9141840"/>
              <a:gd name="textAreaRight" fmla="*/ 9142560 w 9141840"/>
              <a:gd name="textAreaTop" fmla="*/ 0 h 5141520"/>
              <a:gd name="textAreaBottom" fmla="*/ 5142240 h 5141520"/>
            </a:gdLst>
            <a:ahLst/>
            <a:cxnLst/>
            <a:rect l="textAreaLeft" t="textAreaTop" r="textAreaRight" b="textAreaBottom"/>
            <a:pathLst>
              <a:path w="9142730" h="5142230">
                <a:moveTo>
                  <a:pt x="0" y="0"/>
                </a:moveTo>
                <a:lnTo>
                  <a:pt x="9142476" y="0"/>
                </a:lnTo>
                <a:lnTo>
                  <a:pt x="9142476" y="5141976"/>
                </a:lnTo>
                <a:lnTo>
                  <a:pt x="0" y="5141976"/>
                </a:lnTo>
                <a:lnTo>
                  <a:pt x="0" y="0"/>
                </a:lnTo>
                <a:close/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sldNum" idx="23"/>
          </p:nvPr>
        </p:nvSpPr>
        <p:spPr>
          <a:xfrm>
            <a:off x="8816400" y="4785480"/>
            <a:ext cx="229320" cy="313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38160" indent="0">
              <a:lnSpc>
                <a:spcPct val="100000"/>
              </a:lnSpc>
              <a:buNone/>
              <a:tabLst>
                <a:tab pos="0" algn="l"/>
              </a:tabLst>
              <a:defRPr lang="ru-RU" sz="1000" b="0" u="none" strike="noStrike" spc="-26">
                <a:solidFill>
                  <a:schemeClr val="dk1"/>
                </a:solidFill>
                <a:effectLst/>
                <a:uFillTx/>
                <a:latin typeface="Microsoft Sans Serif"/>
              </a:defRPr>
            </a:lvl1pPr>
          </a:lstStyle>
          <a:p>
            <a:pPr marL="3816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000" b="0" u="none" strike="noStrike" spc="-26">
                <a:solidFill>
                  <a:schemeClr val="dk1"/>
                </a:solidFill>
                <a:effectLst/>
                <a:uFillTx/>
                <a:latin typeface="Microsoft Sans Serif"/>
              </a:rPr>
              <a:t>13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1">
            <a:extLst>
              <a:ext uri="{FF2B5EF4-FFF2-40B4-BE49-F238E27FC236}">
                <a16:creationId xmlns:a16="http://schemas.microsoft.com/office/drawing/2014/main" id="{A7332DE4-9E38-7E25-2512-CDFB023B0A4D}"/>
              </a:ext>
            </a:extLst>
          </p:cNvPr>
          <p:cNvSpPr txBox="1">
            <a:spLocks/>
          </p:cNvSpPr>
          <p:nvPr/>
        </p:nvSpPr>
        <p:spPr>
          <a:xfrm>
            <a:off x="2288834" y="2573249"/>
            <a:ext cx="5320807" cy="68515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12600" rIns="0" bIns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600">
              <a:lnSpc>
                <a:spcPct val="114000"/>
              </a:lnSpc>
              <a:spcBef>
                <a:spcPts val="600"/>
              </a:spcBef>
              <a:tabLst>
                <a:tab pos="0" algn="l"/>
              </a:tabLst>
            </a:pPr>
            <a:r>
              <a:rPr lang="ru-RU" sz="2000" spc="-1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Улучшить внешне устройство, доработать его визуальную часть до идеала</a:t>
            </a:r>
            <a:endParaRPr lang="ru-RU" sz="2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PlaceHolder 1">
            <a:extLst>
              <a:ext uri="{FF2B5EF4-FFF2-40B4-BE49-F238E27FC236}">
                <a16:creationId xmlns:a16="http://schemas.microsoft.com/office/drawing/2014/main" id="{B0BC6F53-C6C4-5E70-1792-4277FCCC61E3}"/>
              </a:ext>
            </a:extLst>
          </p:cNvPr>
          <p:cNvSpPr txBox="1">
            <a:spLocks/>
          </p:cNvSpPr>
          <p:nvPr/>
        </p:nvSpPr>
        <p:spPr>
          <a:xfrm>
            <a:off x="2288834" y="3751368"/>
            <a:ext cx="5320807" cy="68515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12600" rIns="0" bIns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600">
              <a:lnSpc>
                <a:spcPct val="114000"/>
              </a:lnSpc>
              <a:spcBef>
                <a:spcPts val="600"/>
              </a:spcBef>
              <a:tabLst>
                <a:tab pos="0" algn="l"/>
              </a:tabLst>
            </a:pPr>
            <a:r>
              <a:rPr lang="ru-RU" sz="2000" spc="-1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Создать приложение для </a:t>
            </a:r>
            <a:r>
              <a:rPr lang="en-US" sz="2000" spc="-1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Android/IOS </a:t>
            </a:r>
            <a:r>
              <a:rPr lang="ru-RU" sz="2000" spc="-1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 управлении устройством</a:t>
            </a:r>
            <a:endParaRPr lang="ru-RU" sz="2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object 2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object 3"/>
          <p:cNvSpPr/>
          <p:nvPr/>
        </p:nvSpPr>
        <p:spPr>
          <a:xfrm>
            <a:off x="750600" y="1348200"/>
            <a:ext cx="7317000" cy="206728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332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ru-RU" sz="2000" b="1" u="none" strike="noStrike" spc="-1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Заключение:</a:t>
            </a:r>
            <a:r>
              <a:rPr lang="ru-RU" sz="2000" b="1" u="none" strike="noStrike" spc="-60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1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потенциал</a:t>
            </a:r>
            <a:r>
              <a:rPr lang="ru-RU" sz="2000" b="1" u="none" strike="noStrike" spc="-54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1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и</a:t>
            </a:r>
            <a:r>
              <a:rPr lang="ru-RU" sz="2000" b="1" u="none" strike="noStrike" spc="-60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1" u="none" strike="noStrike" spc="-1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значение</a:t>
            </a:r>
            <a:r>
              <a:rPr lang="ru-RU" sz="2000" b="1" u="none" strike="noStrike" spc="-54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1" u="none" strike="noStrike" spc="-20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«Умной</a:t>
            </a:r>
            <a:r>
              <a:rPr lang="ru-RU" sz="2000" b="1" u="none" strike="noStrike" spc="-60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1" u="none" strike="noStrike" spc="-1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копилки»</a:t>
            </a:r>
            <a:endParaRPr lang="ru-RU" sz="20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600">
              <a:lnSpc>
                <a:spcPct val="100000"/>
              </a:lnSpc>
              <a:spcBef>
                <a:spcPts val="459"/>
              </a:spcBef>
            </a:pPr>
            <a:endParaRPr lang="ru-RU" sz="20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600">
              <a:lnSpc>
                <a:spcPct val="114000"/>
              </a:lnSpc>
            </a:pP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Проект</a:t>
            </a:r>
            <a:r>
              <a:rPr lang="ru-RU" sz="2000" b="0" u="none" strike="noStrike" spc="-60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1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объединяет</a:t>
            </a:r>
            <a:r>
              <a:rPr lang="ru-RU" sz="2000" b="0" u="none" strike="noStrike" spc="-60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1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аппаратные</a:t>
            </a:r>
            <a:r>
              <a:rPr lang="ru-RU" sz="2000" b="0" u="none" strike="noStrike" spc="-54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и</a:t>
            </a:r>
            <a:r>
              <a:rPr lang="ru-RU" sz="2000" b="0" u="none" strike="noStrike" spc="-54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программные</a:t>
            </a:r>
            <a:r>
              <a:rPr lang="ru-RU" sz="2000" b="0" u="none" strike="noStrike" spc="-54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решения</a:t>
            </a:r>
            <a:r>
              <a:rPr lang="ru-RU" sz="2000" b="0" u="none" strike="noStrike" spc="-60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26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для </a:t>
            </a:r>
            <a:r>
              <a:rPr lang="ru-RU" sz="2000" b="0" u="none" strike="noStrike" spc="-20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эффективного</a:t>
            </a:r>
            <a:r>
              <a:rPr lang="ru-RU" sz="2000" b="0" u="none" strike="noStrike" spc="-85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1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контроля</a:t>
            </a:r>
            <a:r>
              <a:rPr lang="ru-RU" sz="2000" b="0" u="none" strike="noStrike" spc="-85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1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накоплений,</a:t>
            </a:r>
            <a:r>
              <a:rPr lang="ru-RU" sz="2000" b="0" u="none" strike="noStrike" spc="-79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способствует</a:t>
            </a:r>
            <a:r>
              <a:rPr lang="ru-RU" sz="2000" b="0" u="none" strike="noStrike" spc="-85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1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формированию 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финансовой</a:t>
            </a:r>
            <a:r>
              <a:rPr lang="ru-RU" sz="2000" b="0" u="none" strike="noStrike" spc="-7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дисциплины</a:t>
            </a:r>
            <a:r>
              <a:rPr lang="ru-RU" sz="2000" b="0" u="none" strike="noStrike" spc="-7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и</a:t>
            </a:r>
            <a:r>
              <a:rPr lang="ru-RU" sz="2000" b="0" u="none" strike="noStrike" spc="-65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1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готов</a:t>
            </a:r>
            <a:r>
              <a:rPr lang="ru-RU" sz="2000" b="0" u="none" strike="noStrike" spc="-7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к</a:t>
            </a:r>
            <a:r>
              <a:rPr lang="ru-RU" sz="2000" b="0" u="none" strike="noStrike" spc="-65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расширению</a:t>
            </a:r>
            <a:r>
              <a:rPr lang="ru-RU" sz="2000" b="0" u="none" strike="noStrike" spc="-7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в</a:t>
            </a:r>
            <a:r>
              <a:rPr lang="ru-RU" sz="2000" b="0" u="none" strike="noStrike" spc="-65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домашних</a:t>
            </a:r>
            <a:r>
              <a:rPr lang="ru-RU" sz="2000" b="0" u="none" strike="noStrike" spc="-60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системах</a:t>
            </a:r>
            <a:r>
              <a:rPr lang="ru-RU" sz="2000" b="0" u="none" strike="noStrike" spc="-54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0" u="none" strike="noStrike" spc="-11" dirty="0"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управления.</a:t>
            </a:r>
            <a:endParaRPr lang="ru-RU" sz="20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" name="object 4"/>
          <p:cNvSpPr/>
          <p:nvPr/>
        </p:nvSpPr>
        <p:spPr>
          <a:xfrm>
            <a:off x="720" y="720"/>
            <a:ext cx="9141840" cy="5141520"/>
          </a:xfrm>
          <a:custGeom>
            <a:avLst/>
            <a:gdLst>
              <a:gd name="textAreaLeft" fmla="*/ 0 w 9141840"/>
              <a:gd name="textAreaRight" fmla="*/ 9142560 w 9141840"/>
              <a:gd name="textAreaTop" fmla="*/ 0 h 5141520"/>
              <a:gd name="textAreaBottom" fmla="*/ 5142240 h 5141520"/>
            </a:gdLst>
            <a:ahLst/>
            <a:cxnLst/>
            <a:rect l="textAreaLeft" t="textAreaTop" r="textAreaRight" b="textAreaBottom"/>
            <a:pathLst>
              <a:path w="9142730" h="5142230">
                <a:moveTo>
                  <a:pt x="0" y="0"/>
                </a:moveTo>
                <a:lnTo>
                  <a:pt x="9142476" y="0"/>
                </a:lnTo>
                <a:lnTo>
                  <a:pt x="9142476" y="5141976"/>
                </a:lnTo>
                <a:lnTo>
                  <a:pt x="0" y="5141976"/>
                </a:lnTo>
                <a:lnTo>
                  <a:pt x="0" y="0"/>
                </a:lnTo>
                <a:close/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222</TotalTime>
  <Words>563</Words>
  <Application>Microsoft Macintosh PowerPoint</Application>
  <PresentationFormat>On-screen Show (16:9)</PresentationFormat>
  <Paragraphs>76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Aptos</vt:lpstr>
      <vt:lpstr>Arial</vt:lpstr>
      <vt:lpstr>Calibri</vt:lpstr>
      <vt:lpstr>Microsoft Sans Serif</vt:lpstr>
      <vt:lpstr>Symbol</vt:lpstr>
      <vt:lpstr>Times New Roman</vt:lpstr>
      <vt:lpstr>Wingdings</vt:lpstr>
      <vt:lpstr>Office Theme</vt:lpstr>
      <vt:lpstr>PowerPoint Presentation</vt:lpstr>
      <vt:lpstr>Финансовая грамотность через технологии</vt:lpstr>
      <vt:lpstr>Проблематика: недостаточный контроль накоплений</vt:lpstr>
      <vt:lpstr>Актуальность внедрения умных копилок</vt:lpstr>
      <vt:lpstr>Описание идеи: сочетание аппаратуры и программного обеспечения</vt:lpstr>
      <vt:lpstr>Сравнение с аналогами: функции и недостатки</vt:lpstr>
      <vt:lpstr>PowerPoint Presentation</vt:lpstr>
      <vt:lpstr>Методы и используемые материалы</vt:lpstr>
      <vt:lpstr>Описание принципа работы системы</vt:lpstr>
      <vt:lpstr>Функционал Веб-интерфейса</vt:lpstr>
      <vt:lpstr>Перспективы развития и рекомендации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>Рабазанов Магомед</cp:lastModifiedBy>
  <cp:revision>4</cp:revision>
  <dcterms:created xsi:type="dcterms:W3CDTF">2026-02-04T19:11:26Z</dcterms:created>
  <dcterms:modified xsi:type="dcterms:W3CDTF">2026-05-26T14:43:46Z</dcterms:modified>
  <dc:language>ru-RU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2026-02-04T00:00:00Z</vt:filetime>
  </property>
  <property fmtid="{D5CDD505-2E9C-101B-9397-08002B2CF9AE}" pid="3" name="Creator">
    <vt:lpwstr>WPS Presentation</vt:lpwstr>
  </property>
  <property fmtid="{D5CDD505-2E9C-101B-9397-08002B2CF9AE}" pid="4" name="LastSaved">
    <vt:filetime>2026-02-04T00:00:00Z</vt:filetime>
  </property>
  <property fmtid="{D5CDD505-2E9C-101B-9397-08002B2CF9AE}" pid="5" name="PresentationFormat">
    <vt:lpwstr>On-screen Show (4:3)</vt:lpwstr>
  </property>
  <property fmtid="{D5CDD505-2E9C-101B-9397-08002B2CF9AE}" pid="6" name="SourceModified">
    <vt:lpwstr>D:20260204214227+03'00'</vt:lpwstr>
  </property>
</Properties>
</file>